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15"/>
  </p:notesMasterIdLst>
  <p:sldIdLst>
    <p:sldId id="256" r:id="rId2"/>
    <p:sldId id="257" r:id="rId3"/>
    <p:sldId id="258" r:id="rId4"/>
    <p:sldId id="260" r:id="rId5"/>
    <p:sldId id="259" r:id="rId6"/>
    <p:sldId id="262" r:id="rId7"/>
    <p:sldId id="270" r:id="rId8"/>
    <p:sldId id="267" r:id="rId9"/>
    <p:sldId id="261" r:id="rId10"/>
    <p:sldId id="264" r:id="rId11"/>
    <p:sldId id="265"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59" d="100"/>
          <a:sy n="59" d="100"/>
        </p:scale>
        <p:origin x="6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1" i="0" u="none" strike="noStrike" kern="1200" cap="all" spc="50" baseline="0">
              <a:solidFill>
                <a:schemeClr val="tx1"/>
              </a:solidFill>
              <a:latin typeface="+mn-lt"/>
              <a:ea typeface="+mn-ea"/>
              <a:cs typeface="+mn-cs"/>
            </a:defRPr>
          </a:pPr>
          <a:endParaRPr lang="en-US"/>
        </a:p>
      </c:txPr>
    </c:title>
    <c:autoTitleDeleted val="0"/>
    <c:plotArea>
      <c:layout/>
      <c:pieChart>
        <c:varyColors val="1"/>
        <c:ser>
          <c:idx val="0"/>
          <c:order val="0"/>
          <c:tx>
            <c:strRef>
              <c:f>Sheet1!$B$1</c:f>
              <c:strCache>
                <c:ptCount val="1"/>
                <c:pt idx="0">
                  <c:v>CRIME INCIDENTS AFTER CCTV INSTALLATION</c:v>
                </c:pt>
              </c:strCache>
            </c:strRef>
          </c:tx>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4052-49A6-88EE-A8779BA8C477}"/>
              </c:ext>
            </c:extLst>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4052-49A6-88EE-A8779BA8C477}"/>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4052-49A6-88EE-A8779BA8C477}"/>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4052-49A6-88EE-A8779BA8C477}"/>
              </c:ext>
            </c:extLst>
          </c:dPt>
          <c:dPt>
            <c:idx val="4"/>
            <c:bubble3D val="0"/>
            <c:spPr>
              <a:solidFill>
                <a:schemeClr val="accent5"/>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4052-49A6-88EE-A8779BA8C477}"/>
              </c:ext>
            </c:extLst>
          </c:dPt>
          <c:dLbls>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Tamil Nadu</c:v>
                </c:pt>
                <c:pt idx="1">
                  <c:v>Maharashtra</c:v>
                </c:pt>
                <c:pt idx="2">
                  <c:v>Delhi</c:v>
                </c:pt>
                <c:pt idx="3">
                  <c:v>Karnataka</c:v>
                </c:pt>
                <c:pt idx="4">
                  <c:v>West Bengal</c:v>
                </c:pt>
              </c:strCache>
            </c:strRef>
          </c:cat>
          <c:val>
            <c:numRef>
              <c:f>Sheet1!$B$2:$B$6</c:f>
              <c:numCache>
                <c:formatCode>General</c:formatCode>
                <c:ptCount val="5"/>
                <c:pt idx="0">
                  <c:v>15</c:v>
                </c:pt>
                <c:pt idx="1">
                  <c:v>20</c:v>
                </c:pt>
                <c:pt idx="2">
                  <c:v>10</c:v>
                </c:pt>
                <c:pt idx="3">
                  <c:v>18</c:v>
                </c:pt>
                <c:pt idx="4">
                  <c:v>12</c:v>
                </c:pt>
              </c:numCache>
            </c:numRef>
          </c:val>
          <c:extLst>
            <c:ext xmlns:c16="http://schemas.microsoft.com/office/drawing/2014/chart" uri="{C3380CC4-5D6E-409C-BE32-E72D297353CC}">
              <c16:uniqueId val="{00000000-D02E-43F4-B696-582C55C4D7F4}"/>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EA693E-F0DB-4C34-9EE3-C7FAA2DC2649}" type="doc">
      <dgm:prSet loTypeId="urn:microsoft.com/office/officeart/2008/layout/RadialCluster" loCatId="cycle" qsTypeId="urn:microsoft.com/office/officeart/2005/8/quickstyle/3d4" qsCatId="3D" csTypeId="urn:microsoft.com/office/officeart/2005/8/colors/accent1_2" csCatId="accent1" phldr="1"/>
      <dgm:spPr/>
      <dgm:t>
        <a:bodyPr/>
        <a:lstStyle/>
        <a:p>
          <a:endParaRPr lang="en-IN"/>
        </a:p>
      </dgm:t>
    </dgm:pt>
    <dgm:pt modelId="{B31C481A-07D3-4D0A-947E-689B7F8D2B13}">
      <dgm:prSet phldrT="[Text]"/>
      <dgm:spPr>
        <a:solidFill>
          <a:schemeClr val="tx2">
            <a:lumMod val="20000"/>
            <a:lumOff val="80000"/>
          </a:schemeClr>
        </a:solidFill>
      </dgm:spPr>
      <dgm:t>
        <a:bodyPr/>
        <a:lstStyle/>
        <a:p>
          <a:r>
            <a:rPr lang="en-IN" baseline="0" dirty="0">
              <a:solidFill>
                <a:schemeClr val="bg1"/>
              </a:solidFill>
            </a:rPr>
            <a:t>AI evaluation</a:t>
          </a:r>
        </a:p>
      </dgm:t>
    </dgm:pt>
    <dgm:pt modelId="{87B04CB7-E687-427C-9395-63FEBBE0F79A}" type="parTrans" cxnId="{6FB92B95-7DE3-49FD-9204-770A098DF397}">
      <dgm:prSet/>
      <dgm:spPr/>
      <dgm:t>
        <a:bodyPr/>
        <a:lstStyle/>
        <a:p>
          <a:endParaRPr lang="en-IN"/>
        </a:p>
      </dgm:t>
    </dgm:pt>
    <dgm:pt modelId="{E2B61610-707F-404D-A40F-75DE21E5CD7F}" type="sibTrans" cxnId="{6FB92B95-7DE3-49FD-9204-770A098DF397}">
      <dgm:prSet/>
      <dgm:spPr/>
      <dgm:t>
        <a:bodyPr/>
        <a:lstStyle/>
        <a:p>
          <a:endParaRPr lang="en-IN"/>
        </a:p>
      </dgm:t>
    </dgm:pt>
    <dgm:pt modelId="{1B78A683-9E2E-47E4-8803-B7F85B045128}">
      <dgm:prSet phldrT="[Text]"/>
      <dgm:spPr>
        <a:solidFill>
          <a:schemeClr val="tx2">
            <a:lumMod val="20000"/>
            <a:lumOff val="80000"/>
          </a:schemeClr>
        </a:solidFill>
      </dgm:spPr>
      <dgm:t>
        <a:bodyPr/>
        <a:lstStyle/>
        <a:p>
          <a:r>
            <a:rPr lang="en-IN" dirty="0">
              <a:solidFill>
                <a:schemeClr val="bg1"/>
              </a:solidFill>
            </a:rPr>
            <a:t>If not anything detected loop will continuously detecting and recognizing</a:t>
          </a:r>
        </a:p>
      </dgm:t>
    </dgm:pt>
    <dgm:pt modelId="{E6A4EEB0-ED22-45CC-85CF-308F39D88CF2}" type="parTrans" cxnId="{26F7375C-7ED4-424C-88AE-5B262A1A0B37}">
      <dgm:prSet/>
      <dgm:spPr>
        <a:ln>
          <a:solidFill>
            <a:schemeClr val="bg2"/>
          </a:solidFill>
        </a:ln>
      </dgm:spPr>
      <dgm:t>
        <a:bodyPr/>
        <a:lstStyle/>
        <a:p>
          <a:endParaRPr lang="en-IN"/>
        </a:p>
      </dgm:t>
    </dgm:pt>
    <dgm:pt modelId="{15896234-2295-47A9-AFF4-5176A09E3F84}" type="sibTrans" cxnId="{26F7375C-7ED4-424C-88AE-5B262A1A0B37}">
      <dgm:prSet/>
      <dgm:spPr/>
      <dgm:t>
        <a:bodyPr/>
        <a:lstStyle/>
        <a:p>
          <a:endParaRPr lang="en-IN"/>
        </a:p>
      </dgm:t>
    </dgm:pt>
    <dgm:pt modelId="{FBC71EE7-1238-41CD-87BD-6F4F86D94611}">
      <dgm:prSet phldrT="[Text]"/>
      <dgm:spPr>
        <a:solidFill>
          <a:schemeClr val="tx2">
            <a:lumMod val="20000"/>
            <a:lumOff val="80000"/>
          </a:schemeClr>
        </a:solidFill>
      </dgm:spPr>
      <dgm:t>
        <a:bodyPr/>
        <a:lstStyle/>
        <a:p>
          <a:r>
            <a:rPr lang="en-IN" dirty="0">
              <a:solidFill>
                <a:schemeClr val="bg1"/>
              </a:solidFill>
            </a:rPr>
            <a:t>If suspicious activities detected it will record the session until the detection </a:t>
          </a:r>
          <a:r>
            <a:rPr lang="en-IN" baseline="0" dirty="0">
              <a:solidFill>
                <a:schemeClr val="bg1"/>
              </a:solidFill>
            </a:rPr>
            <a:t>process</a:t>
          </a:r>
          <a:r>
            <a:rPr lang="en-IN" dirty="0">
              <a:solidFill>
                <a:schemeClr val="bg1"/>
              </a:solidFill>
            </a:rPr>
            <a:t> is over </a:t>
          </a:r>
        </a:p>
      </dgm:t>
    </dgm:pt>
    <dgm:pt modelId="{B2D1C49C-4F91-45D7-B064-D6D47CD53D40}" type="parTrans" cxnId="{C60F207E-1C28-4960-A0DF-D83F38A9CA6B}">
      <dgm:prSet/>
      <dgm:spPr>
        <a:ln>
          <a:solidFill>
            <a:schemeClr val="bg2"/>
          </a:solidFill>
        </a:ln>
      </dgm:spPr>
      <dgm:t>
        <a:bodyPr/>
        <a:lstStyle/>
        <a:p>
          <a:endParaRPr lang="en-IN"/>
        </a:p>
      </dgm:t>
    </dgm:pt>
    <dgm:pt modelId="{743D4437-2F43-4392-ABD7-B6B1D37D5D86}" type="sibTrans" cxnId="{C60F207E-1C28-4960-A0DF-D83F38A9CA6B}">
      <dgm:prSet/>
      <dgm:spPr/>
      <dgm:t>
        <a:bodyPr/>
        <a:lstStyle/>
        <a:p>
          <a:endParaRPr lang="en-IN"/>
        </a:p>
      </dgm:t>
    </dgm:pt>
    <dgm:pt modelId="{EFD56D43-3871-4900-800E-2C91392F732A}">
      <dgm:prSet phldrT="[Text]"/>
      <dgm:spPr>
        <a:solidFill>
          <a:schemeClr val="tx2">
            <a:lumMod val="20000"/>
            <a:lumOff val="80000"/>
          </a:schemeClr>
        </a:solidFill>
      </dgm:spPr>
      <dgm:t>
        <a:bodyPr/>
        <a:lstStyle/>
        <a:p>
          <a:r>
            <a:rPr lang="en-IN" baseline="0" dirty="0">
              <a:solidFill>
                <a:schemeClr val="bg1"/>
              </a:solidFill>
            </a:rPr>
            <a:t> Faces ,weapons, suspicious activities and face detection and </a:t>
          </a:r>
          <a:r>
            <a:rPr lang="en-IN" baseline="0">
              <a:solidFill>
                <a:schemeClr val="bg1"/>
              </a:solidFill>
            </a:rPr>
            <a:t>recognization</a:t>
          </a:r>
          <a:endParaRPr lang="en-IN" baseline="0" dirty="0">
            <a:solidFill>
              <a:schemeClr val="bg1"/>
            </a:solidFill>
          </a:endParaRPr>
        </a:p>
      </dgm:t>
    </dgm:pt>
    <dgm:pt modelId="{057517B9-A8A7-422B-A0AF-72E94B2E583C}" type="sibTrans" cxnId="{479D3793-A130-4646-8E58-440BD9D8B53E}">
      <dgm:prSet/>
      <dgm:spPr/>
      <dgm:t>
        <a:bodyPr/>
        <a:lstStyle/>
        <a:p>
          <a:endParaRPr lang="en-IN"/>
        </a:p>
      </dgm:t>
    </dgm:pt>
    <dgm:pt modelId="{BEF96319-1262-46A8-94A6-B1F835335633}" type="parTrans" cxnId="{479D3793-A130-4646-8E58-440BD9D8B53E}">
      <dgm:prSet/>
      <dgm:spPr>
        <a:ln>
          <a:solidFill>
            <a:schemeClr val="bg2"/>
          </a:solidFill>
        </a:ln>
      </dgm:spPr>
      <dgm:t>
        <a:bodyPr/>
        <a:lstStyle/>
        <a:p>
          <a:endParaRPr lang="en-IN"/>
        </a:p>
      </dgm:t>
    </dgm:pt>
    <dgm:pt modelId="{AFE8DE5B-71F6-4647-8376-E2D3861EFB4F}" type="pres">
      <dgm:prSet presAssocID="{5CEA693E-F0DB-4C34-9EE3-C7FAA2DC2649}" presName="Name0" presStyleCnt="0">
        <dgm:presLayoutVars>
          <dgm:chMax val="1"/>
          <dgm:chPref val="1"/>
          <dgm:dir/>
          <dgm:animOne val="branch"/>
          <dgm:animLvl val="lvl"/>
        </dgm:presLayoutVars>
      </dgm:prSet>
      <dgm:spPr/>
    </dgm:pt>
    <dgm:pt modelId="{7208321E-C067-43AA-8EE0-072DBF5117F9}" type="pres">
      <dgm:prSet presAssocID="{B31C481A-07D3-4D0A-947E-689B7F8D2B13}" presName="singleCycle" presStyleCnt="0"/>
      <dgm:spPr/>
    </dgm:pt>
    <dgm:pt modelId="{4DDDA861-02B4-4A26-9283-072D68F2DB79}" type="pres">
      <dgm:prSet presAssocID="{B31C481A-07D3-4D0A-947E-689B7F8D2B13}" presName="singleCenter" presStyleLbl="node1" presStyleIdx="0" presStyleCnt="4" custScaleX="96104" custScaleY="79144">
        <dgm:presLayoutVars>
          <dgm:chMax val="7"/>
          <dgm:chPref val="7"/>
        </dgm:presLayoutVars>
      </dgm:prSet>
      <dgm:spPr/>
    </dgm:pt>
    <dgm:pt modelId="{550124CC-3127-47E5-B5E1-19FA34D17C84}" type="pres">
      <dgm:prSet presAssocID="{BEF96319-1262-46A8-94A6-B1F835335633}" presName="Name56" presStyleLbl="parChTrans1D2" presStyleIdx="0" presStyleCnt="3"/>
      <dgm:spPr/>
    </dgm:pt>
    <dgm:pt modelId="{0EF7FFD6-A49D-4E5F-870F-BA6CBB595449}" type="pres">
      <dgm:prSet presAssocID="{EFD56D43-3871-4900-800E-2C91392F732A}" presName="text0" presStyleLbl="node1" presStyleIdx="1" presStyleCnt="4" custScaleX="363187" custScaleY="155793" custRadScaleRad="135785">
        <dgm:presLayoutVars>
          <dgm:bulletEnabled val="1"/>
        </dgm:presLayoutVars>
      </dgm:prSet>
      <dgm:spPr/>
    </dgm:pt>
    <dgm:pt modelId="{1079162C-A4E9-47E7-95E1-7D051C81FAEE}" type="pres">
      <dgm:prSet presAssocID="{E6A4EEB0-ED22-45CC-85CF-308F39D88CF2}" presName="Name56" presStyleLbl="parChTrans1D2" presStyleIdx="1" presStyleCnt="3"/>
      <dgm:spPr/>
    </dgm:pt>
    <dgm:pt modelId="{BC580501-58C7-450B-B1AE-B85F2DB48582}" type="pres">
      <dgm:prSet presAssocID="{1B78A683-9E2E-47E4-8803-B7F85B045128}" presName="text0" presStyleLbl="node1" presStyleIdx="2" presStyleCnt="4" custScaleX="385395" custScaleY="86178" custRadScaleRad="128447" custRadScaleInc="-3563">
        <dgm:presLayoutVars>
          <dgm:bulletEnabled val="1"/>
        </dgm:presLayoutVars>
      </dgm:prSet>
      <dgm:spPr/>
    </dgm:pt>
    <dgm:pt modelId="{157EE27F-5AE0-4026-9F7F-6D7F6E08AA1B}" type="pres">
      <dgm:prSet presAssocID="{B2D1C49C-4F91-45D7-B064-D6D47CD53D40}" presName="Name56" presStyleLbl="parChTrans1D2" presStyleIdx="2" presStyleCnt="3"/>
      <dgm:spPr/>
    </dgm:pt>
    <dgm:pt modelId="{D0907E1F-A580-4D57-8C0B-1971FFBFAB58}" type="pres">
      <dgm:prSet presAssocID="{FBC71EE7-1238-41CD-87BD-6F4F86D94611}" presName="text0" presStyleLbl="node1" presStyleIdx="3" presStyleCnt="4" custScaleX="455962" custScaleY="90834" custRadScaleRad="146141" custRadScaleInc="-5211">
        <dgm:presLayoutVars>
          <dgm:bulletEnabled val="1"/>
        </dgm:presLayoutVars>
      </dgm:prSet>
      <dgm:spPr/>
    </dgm:pt>
  </dgm:ptLst>
  <dgm:cxnLst>
    <dgm:cxn modelId="{26F7375C-7ED4-424C-88AE-5B262A1A0B37}" srcId="{B31C481A-07D3-4D0A-947E-689B7F8D2B13}" destId="{1B78A683-9E2E-47E4-8803-B7F85B045128}" srcOrd="1" destOrd="0" parTransId="{E6A4EEB0-ED22-45CC-85CF-308F39D88CF2}" sibTransId="{15896234-2295-47A9-AFF4-5176A09E3F84}"/>
    <dgm:cxn modelId="{7A46BA66-A9F2-46BE-B07D-8E15452EDBD3}" type="presOf" srcId="{EFD56D43-3871-4900-800E-2C91392F732A}" destId="{0EF7FFD6-A49D-4E5F-870F-BA6CBB595449}" srcOrd="0" destOrd="0" presId="urn:microsoft.com/office/officeart/2008/layout/RadialCluster"/>
    <dgm:cxn modelId="{B67F5948-E8A6-4DEB-9F64-0A645646D5C6}" type="presOf" srcId="{5CEA693E-F0DB-4C34-9EE3-C7FAA2DC2649}" destId="{AFE8DE5B-71F6-4647-8376-E2D3861EFB4F}" srcOrd="0" destOrd="0" presId="urn:microsoft.com/office/officeart/2008/layout/RadialCluster"/>
    <dgm:cxn modelId="{99152D54-C4DF-4C58-898B-322B324FE32D}" type="presOf" srcId="{E6A4EEB0-ED22-45CC-85CF-308F39D88CF2}" destId="{1079162C-A4E9-47E7-95E1-7D051C81FAEE}" srcOrd="0" destOrd="0" presId="urn:microsoft.com/office/officeart/2008/layout/RadialCluster"/>
    <dgm:cxn modelId="{C60F207E-1C28-4960-A0DF-D83F38A9CA6B}" srcId="{B31C481A-07D3-4D0A-947E-689B7F8D2B13}" destId="{FBC71EE7-1238-41CD-87BD-6F4F86D94611}" srcOrd="2" destOrd="0" parTransId="{B2D1C49C-4F91-45D7-B064-D6D47CD53D40}" sibTransId="{743D4437-2F43-4392-ABD7-B6B1D37D5D86}"/>
    <dgm:cxn modelId="{479D3793-A130-4646-8E58-440BD9D8B53E}" srcId="{B31C481A-07D3-4D0A-947E-689B7F8D2B13}" destId="{EFD56D43-3871-4900-800E-2C91392F732A}" srcOrd="0" destOrd="0" parTransId="{BEF96319-1262-46A8-94A6-B1F835335633}" sibTransId="{057517B9-A8A7-422B-A0AF-72E94B2E583C}"/>
    <dgm:cxn modelId="{6FB92B95-7DE3-49FD-9204-770A098DF397}" srcId="{5CEA693E-F0DB-4C34-9EE3-C7FAA2DC2649}" destId="{B31C481A-07D3-4D0A-947E-689B7F8D2B13}" srcOrd="0" destOrd="0" parTransId="{87B04CB7-E687-427C-9395-63FEBBE0F79A}" sibTransId="{E2B61610-707F-404D-A40F-75DE21E5CD7F}"/>
    <dgm:cxn modelId="{62DBD39C-D131-403D-884C-0603A56EBE6A}" type="presOf" srcId="{FBC71EE7-1238-41CD-87BD-6F4F86D94611}" destId="{D0907E1F-A580-4D57-8C0B-1971FFBFAB58}" srcOrd="0" destOrd="0" presId="urn:microsoft.com/office/officeart/2008/layout/RadialCluster"/>
    <dgm:cxn modelId="{C060E4AA-E7D9-42A1-8344-0AF68DBA52CB}" type="presOf" srcId="{B31C481A-07D3-4D0A-947E-689B7F8D2B13}" destId="{4DDDA861-02B4-4A26-9283-072D68F2DB79}" srcOrd="0" destOrd="0" presId="urn:microsoft.com/office/officeart/2008/layout/RadialCluster"/>
    <dgm:cxn modelId="{9A6658B4-393E-4CA7-9FEB-2148F182A99D}" type="presOf" srcId="{BEF96319-1262-46A8-94A6-B1F835335633}" destId="{550124CC-3127-47E5-B5E1-19FA34D17C84}" srcOrd="0" destOrd="0" presId="urn:microsoft.com/office/officeart/2008/layout/RadialCluster"/>
    <dgm:cxn modelId="{975715E0-F31F-4F2C-97A8-A4C5C44B48D4}" type="presOf" srcId="{1B78A683-9E2E-47E4-8803-B7F85B045128}" destId="{BC580501-58C7-450B-B1AE-B85F2DB48582}" srcOrd="0" destOrd="0" presId="urn:microsoft.com/office/officeart/2008/layout/RadialCluster"/>
    <dgm:cxn modelId="{D1260EF4-7D04-4B42-BBA0-F129F390CBCC}" type="presOf" srcId="{B2D1C49C-4F91-45D7-B064-D6D47CD53D40}" destId="{157EE27F-5AE0-4026-9F7F-6D7F6E08AA1B}" srcOrd="0" destOrd="0" presId="urn:microsoft.com/office/officeart/2008/layout/RadialCluster"/>
    <dgm:cxn modelId="{D404D777-6DD0-4C76-8537-ABC916834E8F}" type="presParOf" srcId="{AFE8DE5B-71F6-4647-8376-E2D3861EFB4F}" destId="{7208321E-C067-43AA-8EE0-072DBF5117F9}" srcOrd="0" destOrd="0" presId="urn:microsoft.com/office/officeart/2008/layout/RadialCluster"/>
    <dgm:cxn modelId="{6744BD86-407D-45C0-8ADA-F912A82DDFBF}" type="presParOf" srcId="{7208321E-C067-43AA-8EE0-072DBF5117F9}" destId="{4DDDA861-02B4-4A26-9283-072D68F2DB79}" srcOrd="0" destOrd="0" presId="urn:microsoft.com/office/officeart/2008/layout/RadialCluster"/>
    <dgm:cxn modelId="{E414A9B2-0916-42B6-88C7-A00E630530DC}" type="presParOf" srcId="{7208321E-C067-43AA-8EE0-072DBF5117F9}" destId="{550124CC-3127-47E5-B5E1-19FA34D17C84}" srcOrd="1" destOrd="0" presId="urn:microsoft.com/office/officeart/2008/layout/RadialCluster"/>
    <dgm:cxn modelId="{3D41A7F1-3CCD-410B-BCD1-63A3CB429228}" type="presParOf" srcId="{7208321E-C067-43AA-8EE0-072DBF5117F9}" destId="{0EF7FFD6-A49D-4E5F-870F-BA6CBB595449}" srcOrd="2" destOrd="0" presId="urn:microsoft.com/office/officeart/2008/layout/RadialCluster"/>
    <dgm:cxn modelId="{784A90C3-CAD3-4266-86ED-C40F614B4572}" type="presParOf" srcId="{7208321E-C067-43AA-8EE0-072DBF5117F9}" destId="{1079162C-A4E9-47E7-95E1-7D051C81FAEE}" srcOrd="3" destOrd="0" presId="urn:microsoft.com/office/officeart/2008/layout/RadialCluster"/>
    <dgm:cxn modelId="{0522F34C-4902-447A-9785-A7D13064208A}" type="presParOf" srcId="{7208321E-C067-43AA-8EE0-072DBF5117F9}" destId="{BC580501-58C7-450B-B1AE-B85F2DB48582}" srcOrd="4" destOrd="0" presId="urn:microsoft.com/office/officeart/2008/layout/RadialCluster"/>
    <dgm:cxn modelId="{D1D41A4F-5639-4852-B2E5-439C0BDB8A70}" type="presParOf" srcId="{7208321E-C067-43AA-8EE0-072DBF5117F9}" destId="{157EE27F-5AE0-4026-9F7F-6D7F6E08AA1B}" srcOrd="5" destOrd="0" presId="urn:microsoft.com/office/officeart/2008/layout/RadialCluster"/>
    <dgm:cxn modelId="{017DEF8A-F38D-4719-AE98-B8C974A92E30}" type="presParOf" srcId="{7208321E-C067-43AA-8EE0-072DBF5117F9}" destId="{D0907E1F-A580-4D57-8C0B-1971FFBFAB58}" srcOrd="6" destOrd="0" presId="urn:microsoft.com/office/officeart/2008/layout/RadialCluster"/>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DA861-02B4-4A26-9283-072D68F2DB79}">
      <dsp:nvSpPr>
        <dsp:cNvPr id="0" name=""/>
        <dsp:cNvSpPr/>
      </dsp:nvSpPr>
      <dsp:spPr>
        <a:xfrm>
          <a:off x="6433004" y="2598930"/>
          <a:ext cx="1416022" cy="1166129"/>
        </a:xfrm>
        <a:prstGeom prst="roundRect">
          <a:avLst/>
        </a:prstGeom>
        <a:solidFill>
          <a:schemeClr val="tx2">
            <a:lumMod val="20000"/>
            <a:lumOff val="8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en-IN" sz="2200" kern="1200" baseline="0" dirty="0">
              <a:solidFill>
                <a:schemeClr val="bg1"/>
              </a:solidFill>
            </a:rPr>
            <a:t>AI evaluation</a:t>
          </a:r>
        </a:p>
      </dsp:txBody>
      <dsp:txXfrm>
        <a:off x="6489930" y="2655856"/>
        <a:ext cx="1302170" cy="1052277"/>
      </dsp:txXfrm>
    </dsp:sp>
    <dsp:sp modelId="{550124CC-3127-47E5-B5E1-19FA34D17C84}">
      <dsp:nvSpPr>
        <dsp:cNvPr id="0" name=""/>
        <dsp:cNvSpPr/>
      </dsp:nvSpPr>
      <dsp:spPr>
        <a:xfrm rot="16200000">
          <a:off x="6610541" y="2068456"/>
          <a:ext cx="1060948" cy="0"/>
        </a:xfrm>
        <a:custGeom>
          <a:avLst/>
          <a:gdLst/>
          <a:ahLst/>
          <a:cxnLst/>
          <a:rect l="0" t="0" r="0" b="0"/>
          <a:pathLst>
            <a:path>
              <a:moveTo>
                <a:pt x="0" y="0"/>
              </a:moveTo>
              <a:lnTo>
                <a:pt x="1060948" y="0"/>
              </a:lnTo>
            </a:path>
          </a:pathLst>
        </a:custGeom>
        <a:noFill/>
        <a:ln w="15875" cap="flat" cmpd="sng" algn="ctr">
          <a:solidFill>
            <a:schemeClr val="bg2"/>
          </a:solidFill>
          <a:prstDash val="solid"/>
        </a:ln>
        <a:effectLst/>
        <a:sp3d z="-40000" prstMaterial="matte"/>
      </dsp:spPr>
      <dsp:style>
        <a:lnRef idx="2">
          <a:scrgbClr r="0" g="0" b="0"/>
        </a:lnRef>
        <a:fillRef idx="0">
          <a:scrgbClr r="0" g="0" b="0"/>
        </a:fillRef>
        <a:effectRef idx="0">
          <a:scrgbClr r="0" g="0" b="0"/>
        </a:effectRef>
        <a:fontRef idx="minor"/>
      </dsp:style>
    </dsp:sp>
    <dsp:sp modelId="{0EF7FFD6-A49D-4E5F-870F-BA6CBB595449}">
      <dsp:nvSpPr>
        <dsp:cNvPr id="0" name=""/>
        <dsp:cNvSpPr/>
      </dsp:nvSpPr>
      <dsp:spPr>
        <a:xfrm>
          <a:off x="5348331" y="0"/>
          <a:ext cx="3585369" cy="1537982"/>
        </a:xfrm>
        <a:prstGeom prst="roundRect">
          <a:avLst/>
        </a:prstGeom>
        <a:solidFill>
          <a:schemeClr val="tx2">
            <a:lumMod val="20000"/>
            <a:lumOff val="8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IN" sz="2500" kern="1200" baseline="0" dirty="0">
              <a:solidFill>
                <a:schemeClr val="bg1"/>
              </a:solidFill>
            </a:rPr>
            <a:t> Faces ,weapons, suspicious activities and face detection and </a:t>
          </a:r>
          <a:r>
            <a:rPr lang="en-IN" sz="2500" kern="1200" baseline="0">
              <a:solidFill>
                <a:schemeClr val="bg1"/>
              </a:solidFill>
            </a:rPr>
            <a:t>recognization</a:t>
          </a:r>
          <a:endParaRPr lang="en-IN" sz="2500" kern="1200" baseline="0" dirty="0">
            <a:solidFill>
              <a:schemeClr val="bg1"/>
            </a:solidFill>
          </a:endParaRPr>
        </a:p>
      </dsp:txBody>
      <dsp:txXfrm>
        <a:off x="5423409" y="75078"/>
        <a:ext cx="3435213" cy="1387826"/>
      </dsp:txXfrm>
    </dsp:sp>
    <dsp:sp modelId="{1079162C-A4E9-47E7-95E1-7D051C81FAEE}">
      <dsp:nvSpPr>
        <dsp:cNvPr id="0" name=""/>
        <dsp:cNvSpPr/>
      </dsp:nvSpPr>
      <dsp:spPr>
        <a:xfrm rot="1613823">
          <a:off x="7786909" y="3800911"/>
          <a:ext cx="1148424" cy="0"/>
        </a:xfrm>
        <a:custGeom>
          <a:avLst/>
          <a:gdLst/>
          <a:ahLst/>
          <a:cxnLst/>
          <a:rect l="0" t="0" r="0" b="0"/>
          <a:pathLst>
            <a:path>
              <a:moveTo>
                <a:pt x="0" y="0"/>
              </a:moveTo>
              <a:lnTo>
                <a:pt x="1148424" y="0"/>
              </a:lnTo>
            </a:path>
          </a:pathLst>
        </a:custGeom>
        <a:noFill/>
        <a:ln w="15875" cap="flat" cmpd="sng" algn="ctr">
          <a:solidFill>
            <a:schemeClr val="bg2"/>
          </a:solidFill>
          <a:prstDash val="solid"/>
        </a:ln>
        <a:effectLst/>
        <a:sp3d z="-40000" prstMaterial="matte"/>
      </dsp:spPr>
      <dsp:style>
        <a:lnRef idx="2">
          <a:scrgbClr r="0" g="0" b="0"/>
        </a:lnRef>
        <a:fillRef idx="0">
          <a:scrgbClr r="0" g="0" b="0"/>
        </a:fillRef>
        <a:effectRef idx="0">
          <a:scrgbClr r="0" g="0" b="0"/>
        </a:effectRef>
        <a:fontRef idx="minor"/>
      </dsp:style>
    </dsp:sp>
    <dsp:sp modelId="{BC580501-58C7-450B-B1AE-B85F2DB48582}">
      <dsp:nvSpPr>
        <dsp:cNvPr id="0" name=""/>
        <dsp:cNvSpPr/>
      </dsp:nvSpPr>
      <dsp:spPr>
        <a:xfrm>
          <a:off x="7809476" y="4060678"/>
          <a:ext cx="3804605" cy="850746"/>
        </a:xfrm>
        <a:prstGeom prst="roundRect">
          <a:avLst/>
        </a:prstGeom>
        <a:solidFill>
          <a:schemeClr val="tx2">
            <a:lumMod val="20000"/>
            <a:lumOff val="8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kern="1200" dirty="0">
              <a:solidFill>
                <a:schemeClr val="bg1"/>
              </a:solidFill>
            </a:rPr>
            <a:t>If not anything detected loop will continuously detecting and recognizing</a:t>
          </a:r>
        </a:p>
      </dsp:txBody>
      <dsp:txXfrm>
        <a:off x="7851006" y="4102208"/>
        <a:ext cx="3721545" cy="767686"/>
      </dsp:txXfrm>
    </dsp:sp>
    <dsp:sp modelId="{157EE27F-5AE0-4026-9F7F-6D7F6E08AA1B}">
      <dsp:nvSpPr>
        <dsp:cNvPr id="0" name=""/>
        <dsp:cNvSpPr/>
      </dsp:nvSpPr>
      <dsp:spPr>
        <a:xfrm rot="9311147">
          <a:off x="5284432" y="3762035"/>
          <a:ext cx="1204160" cy="0"/>
        </a:xfrm>
        <a:custGeom>
          <a:avLst/>
          <a:gdLst/>
          <a:ahLst/>
          <a:cxnLst/>
          <a:rect l="0" t="0" r="0" b="0"/>
          <a:pathLst>
            <a:path>
              <a:moveTo>
                <a:pt x="0" y="0"/>
              </a:moveTo>
              <a:lnTo>
                <a:pt x="1204160" y="0"/>
              </a:lnTo>
            </a:path>
          </a:pathLst>
        </a:custGeom>
        <a:noFill/>
        <a:ln w="15875" cap="flat" cmpd="sng" algn="ctr">
          <a:solidFill>
            <a:schemeClr val="bg2"/>
          </a:solidFill>
          <a:prstDash val="solid"/>
        </a:ln>
        <a:effectLst/>
        <a:sp3d z="-40000" prstMaterial="matte"/>
      </dsp:spPr>
      <dsp:style>
        <a:lnRef idx="2">
          <a:scrgbClr r="0" g="0" b="0"/>
        </a:lnRef>
        <a:fillRef idx="0">
          <a:scrgbClr r="0" g="0" b="0"/>
        </a:fillRef>
        <a:effectRef idx="0">
          <a:scrgbClr r="0" g="0" b="0"/>
        </a:effectRef>
        <a:fontRef idx="minor"/>
      </dsp:style>
    </dsp:sp>
    <dsp:sp modelId="{D0907E1F-A580-4D57-8C0B-1971FFBFAB58}">
      <dsp:nvSpPr>
        <dsp:cNvPr id="0" name=""/>
        <dsp:cNvSpPr/>
      </dsp:nvSpPr>
      <dsp:spPr>
        <a:xfrm>
          <a:off x="2119702" y="4014714"/>
          <a:ext cx="4501240" cy="896710"/>
        </a:xfrm>
        <a:prstGeom prst="roundRect">
          <a:avLst/>
        </a:prstGeom>
        <a:solidFill>
          <a:schemeClr val="tx2">
            <a:lumMod val="20000"/>
            <a:lumOff val="8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844550">
            <a:lnSpc>
              <a:spcPct val="90000"/>
            </a:lnSpc>
            <a:spcBef>
              <a:spcPct val="0"/>
            </a:spcBef>
            <a:spcAft>
              <a:spcPct val="35000"/>
            </a:spcAft>
            <a:buNone/>
          </a:pPr>
          <a:r>
            <a:rPr lang="en-IN" sz="1900" kern="1200" dirty="0">
              <a:solidFill>
                <a:schemeClr val="bg1"/>
              </a:solidFill>
            </a:rPr>
            <a:t>If suspicious activities detected it will record the session until the detection </a:t>
          </a:r>
          <a:r>
            <a:rPr lang="en-IN" sz="1900" kern="1200" baseline="0" dirty="0">
              <a:solidFill>
                <a:schemeClr val="bg1"/>
              </a:solidFill>
            </a:rPr>
            <a:t>process</a:t>
          </a:r>
          <a:r>
            <a:rPr lang="en-IN" sz="1900" kern="1200" dirty="0">
              <a:solidFill>
                <a:schemeClr val="bg1"/>
              </a:solidFill>
            </a:rPr>
            <a:t> is over </a:t>
          </a:r>
        </a:p>
      </dsp:txBody>
      <dsp:txXfrm>
        <a:off x="2163476" y="4058488"/>
        <a:ext cx="4413692" cy="809162"/>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0CDF5B-0112-467C-9AC6-C4E9A9BFE9AF}" type="datetimeFigureOut">
              <a:rPr lang="en-IN" smtClean="0"/>
              <a:t>28-03-2025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70946A-5D99-4104-B476-A1865C95C819}" type="slidenum">
              <a:rPr lang="en-IN" smtClean="0"/>
              <a:t>‹#›</a:t>
            </a:fld>
            <a:endParaRPr lang="en-IN"/>
          </a:p>
        </p:txBody>
      </p:sp>
    </p:spTree>
    <p:extLst>
      <p:ext uri="{BB962C8B-B14F-4D97-AF65-F5344CB8AC3E}">
        <p14:creationId xmlns:p14="http://schemas.microsoft.com/office/powerpoint/2010/main" val="1318320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70946A-5D99-4104-B476-A1865C95C819}" type="slidenum">
              <a:rPr lang="en-IN" smtClean="0"/>
              <a:t>2</a:t>
            </a:fld>
            <a:endParaRPr lang="en-IN"/>
          </a:p>
        </p:txBody>
      </p:sp>
    </p:spTree>
    <p:extLst>
      <p:ext uri="{BB962C8B-B14F-4D97-AF65-F5344CB8AC3E}">
        <p14:creationId xmlns:p14="http://schemas.microsoft.com/office/powerpoint/2010/main" val="3034897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3/28/2025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28048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0373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5653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8564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4598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1229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14336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1515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94764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4669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79896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16414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10903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1783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3935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79808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10533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3/28/2025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39096531"/>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B22BA-84E6-3860-21AA-8B1B9738D10E}"/>
              </a:ext>
            </a:extLst>
          </p:cNvPr>
          <p:cNvSpPr>
            <a:spLocks noGrp="1"/>
          </p:cNvSpPr>
          <p:nvPr>
            <p:ph type="ctrTitle"/>
          </p:nvPr>
        </p:nvSpPr>
        <p:spPr>
          <a:xfrm>
            <a:off x="2387063" y="1716129"/>
            <a:ext cx="8791575" cy="2387600"/>
          </a:xfrm>
        </p:spPr>
        <p:txBody>
          <a:bodyPr/>
          <a:lstStyle/>
          <a:p>
            <a:r>
              <a:rPr lang="en-US" dirty="0"/>
              <a:t>AI DRIVEN CCTV SECURITY SYSTEM</a:t>
            </a:r>
            <a:endParaRPr lang="en-IN" dirty="0"/>
          </a:p>
        </p:txBody>
      </p:sp>
      <p:sp>
        <p:nvSpPr>
          <p:cNvPr id="3" name="Subtitle 2">
            <a:extLst>
              <a:ext uri="{FF2B5EF4-FFF2-40B4-BE49-F238E27FC236}">
                <a16:creationId xmlns:a16="http://schemas.microsoft.com/office/drawing/2014/main" id="{5A455DB2-76B0-95BD-26DB-D124C2AEE69E}"/>
              </a:ext>
            </a:extLst>
          </p:cNvPr>
          <p:cNvSpPr>
            <a:spLocks noGrp="1"/>
          </p:cNvSpPr>
          <p:nvPr>
            <p:ph type="subTitle" idx="1"/>
          </p:nvPr>
        </p:nvSpPr>
        <p:spPr/>
        <p:txBody>
          <a:bodyPr>
            <a:normAutofit/>
          </a:bodyPr>
          <a:lstStyle/>
          <a:p>
            <a:endParaRPr lang="en-US" dirty="0"/>
          </a:p>
          <a:p>
            <a:endParaRPr lang="en-IN" dirty="0"/>
          </a:p>
          <a:p>
            <a:r>
              <a:rPr lang="en-IN" dirty="0"/>
              <a:t> </a:t>
            </a:r>
            <a:endParaRPr lang="en-US" dirty="0"/>
          </a:p>
          <a:p>
            <a:endParaRPr lang="en-IN" dirty="0"/>
          </a:p>
        </p:txBody>
      </p:sp>
      <p:sp>
        <p:nvSpPr>
          <p:cNvPr id="4" name="Freeform 14">
            <a:extLst>
              <a:ext uri="{FF2B5EF4-FFF2-40B4-BE49-F238E27FC236}">
                <a16:creationId xmlns:a16="http://schemas.microsoft.com/office/drawing/2014/main" id="{E15EC9FC-41FF-7070-BD91-A4890E08B561}"/>
              </a:ext>
            </a:extLst>
          </p:cNvPr>
          <p:cNvSpPr/>
          <p:nvPr/>
        </p:nvSpPr>
        <p:spPr>
          <a:xfrm>
            <a:off x="7561320" y="-66459"/>
            <a:ext cx="4391195" cy="882888"/>
          </a:xfrm>
          <a:custGeom>
            <a:avLst/>
            <a:gdLst/>
            <a:ahLst/>
            <a:cxnLst/>
            <a:rect l="l" t="t" r="r" b="b"/>
            <a:pathLst>
              <a:path w="6779419" h="1304188">
                <a:moveTo>
                  <a:pt x="0" y="0"/>
                </a:moveTo>
                <a:lnTo>
                  <a:pt x="6779419" y="0"/>
                </a:lnTo>
                <a:lnTo>
                  <a:pt x="6779419" y="1304188"/>
                </a:lnTo>
                <a:lnTo>
                  <a:pt x="0" y="1304188"/>
                </a:lnTo>
                <a:lnTo>
                  <a:pt x="0" y="0"/>
                </a:lnTo>
                <a:close/>
              </a:path>
            </a:pathLst>
          </a:custGeom>
          <a:blipFill>
            <a:blip r:embed="rId2"/>
            <a:stretch>
              <a:fillRect t="-21884" b="-27563"/>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pic>
        <p:nvPicPr>
          <p:cNvPr id="5" name="Picture 4" descr="A red triangle on a black background&#10;&#10;AI-generated content may be incorrect.">
            <a:extLst>
              <a:ext uri="{FF2B5EF4-FFF2-40B4-BE49-F238E27FC236}">
                <a16:creationId xmlns:a16="http://schemas.microsoft.com/office/drawing/2014/main" id="{252509E6-206F-0015-8B75-33A2B64C85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74688" cy="1232364"/>
          </a:xfrm>
          <a:prstGeom prst="rect">
            <a:avLst/>
          </a:prstGeom>
        </p:spPr>
      </p:pic>
    </p:spTree>
    <p:extLst>
      <p:ext uri="{BB962C8B-B14F-4D97-AF65-F5344CB8AC3E}">
        <p14:creationId xmlns:p14="http://schemas.microsoft.com/office/powerpoint/2010/main" val="3356704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D447F-CF6A-9C29-AD8B-55506BF5E47F}"/>
              </a:ext>
            </a:extLst>
          </p:cNvPr>
          <p:cNvSpPr>
            <a:spLocks noGrp="1"/>
          </p:cNvSpPr>
          <p:nvPr>
            <p:ph type="title"/>
          </p:nvPr>
        </p:nvSpPr>
        <p:spPr/>
        <p:txBody>
          <a:bodyPr/>
          <a:lstStyle/>
          <a:p>
            <a:pPr marL="571500" indent="-571500">
              <a:buFont typeface="Wingdings" panose="05000000000000000000" pitchFamily="2" charset="2"/>
              <a:buChar char="v"/>
            </a:pPr>
            <a:r>
              <a:rPr lang="en-US" dirty="0" err="1"/>
              <a:t>inTRoduction</a:t>
            </a:r>
            <a:endParaRPr lang="en-IN" dirty="0"/>
          </a:p>
        </p:txBody>
      </p:sp>
      <p:sp>
        <p:nvSpPr>
          <p:cNvPr id="3" name="Content Placeholder 2">
            <a:extLst>
              <a:ext uri="{FF2B5EF4-FFF2-40B4-BE49-F238E27FC236}">
                <a16:creationId xmlns:a16="http://schemas.microsoft.com/office/drawing/2014/main" id="{6622C1E6-3B00-792F-A653-801888F324F4}"/>
              </a:ext>
            </a:extLst>
          </p:cNvPr>
          <p:cNvSpPr>
            <a:spLocks noGrp="1"/>
          </p:cNvSpPr>
          <p:nvPr>
            <p:ph idx="1"/>
          </p:nvPr>
        </p:nvSpPr>
        <p:spPr>
          <a:xfrm>
            <a:off x="4958165" y="1797750"/>
            <a:ext cx="6828551" cy="4491228"/>
          </a:xfrm>
        </p:spPr>
        <p:txBody>
          <a:bodyPr>
            <a:normAutofit/>
          </a:bodyPr>
          <a:lstStyle/>
          <a:p>
            <a:pPr>
              <a:buFont typeface="Wingdings" panose="05000000000000000000" pitchFamily="2" charset="2"/>
              <a:buChar char="Ø"/>
            </a:pPr>
            <a:r>
              <a:rPr lang="en-US" dirty="0"/>
              <a:t>Traditional CCTV systems rely on manual monitoring,</a:t>
            </a:r>
          </a:p>
          <a:p>
            <a:pPr marL="0" indent="0">
              <a:buNone/>
            </a:pPr>
            <a:r>
              <a:rPr lang="en-US" dirty="0"/>
              <a:t>  leading to delayed threat detection and response.</a:t>
            </a:r>
          </a:p>
          <a:p>
            <a:pPr>
              <a:buFont typeface="Wingdings" panose="05000000000000000000" pitchFamily="2" charset="2"/>
              <a:buChar char="Ø"/>
            </a:pPr>
            <a:r>
              <a:rPr lang="en-US" dirty="0"/>
              <a:t>The AI-Driven CCTV Security System enables real-time surveillance, detecting weapons, identifying abnormal behavior, and recognizing faces.</a:t>
            </a:r>
          </a:p>
          <a:p>
            <a:pPr>
              <a:buFont typeface="Wingdings" panose="05000000000000000000" pitchFamily="2" charset="2"/>
              <a:buChar char="Ø"/>
            </a:pPr>
            <a:r>
              <a:rPr lang="en-US" dirty="0"/>
              <a:t> This system minimizes human intervention, enhances response times, and provides scalable security for multiple sectors.</a:t>
            </a:r>
          </a:p>
          <a:p>
            <a:pPr>
              <a:buFont typeface="Wingdings" panose="05000000000000000000" pitchFamily="2" charset="2"/>
              <a:buChar char="Ø"/>
            </a:pPr>
            <a:endParaRPr lang="en-IN" dirty="0"/>
          </a:p>
        </p:txBody>
      </p:sp>
      <p:pic>
        <p:nvPicPr>
          <p:cNvPr id="5" name="Picture 4" descr="A hand holding a camera&#10;&#10;AI-generated content may be incorrect.">
            <a:extLst>
              <a:ext uri="{FF2B5EF4-FFF2-40B4-BE49-F238E27FC236}">
                <a16:creationId xmlns:a16="http://schemas.microsoft.com/office/drawing/2014/main" id="{549475BE-1591-315D-4644-6C42E73B4C81}"/>
              </a:ext>
            </a:extLst>
          </p:cNvPr>
          <p:cNvPicPr>
            <a:picLocks noChangeAspect="1"/>
          </p:cNvPicPr>
          <p:nvPr/>
        </p:nvPicPr>
        <p:blipFill>
          <a:blip r:embed="rId3"/>
          <a:stretch>
            <a:fillRect/>
          </a:stretch>
        </p:blipFill>
        <p:spPr>
          <a:xfrm>
            <a:off x="895938" y="1991413"/>
            <a:ext cx="3581794" cy="2051951"/>
          </a:xfrm>
          <a:prstGeom prst="rect">
            <a:avLst/>
          </a:prstGeom>
        </p:spPr>
      </p:pic>
      <p:pic>
        <p:nvPicPr>
          <p:cNvPr id="9" name="Picture 8" descr="A close-up of a security camera&#10;&#10;AI-generated content may be incorrect.">
            <a:extLst>
              <a:ext uri="{FF2B5EF4-FFF2-40B4-BE49-F238E27FC236}">
                <a16:creationId xmlns:a16="http://schemas.microsoft.com/office/drawing/2014/main" id="{2B975630-311E-C22A-083C-CE5C40FAD9BF}"/>
              </a:ext>
            </a:extLst>
          </p:cNvPr>
          <p:cNvPicPr>
            <a:picLocks noChangeAspect="1"/>
          </p:cNvPicPr>
          <p:nvPr/>
        </p:nvPicPr>
        <p:blipFill>
          <a:blip r:embed="rId4"/>
          <a:stretch>
            <a:fillRect/>
          </a:stretch>
        </p:blipFill>
        <p:spPr>
          <a:xfrm>
            <a:off x="895939" y="4185501"/>
            <a:ext cx="3581794" cy="1786755"/>
          </a:xfrm>
          <a:prstGeom prst="rect">
            <a:avLst/>
          </a:prstGeom>
        </p:spPr>
      </p:pic>
    </p:spTree>
    <p:extLst>
      <p:ext uri="{BB962C8B-B14F-4D97-AF65-F5344CB8AC3E}">
        <p14:creationId xmlns:p14="http://schemas.microsoft.com/office/powerpoint/2010/main" val="192989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1929-BF11-9A09-3575-F72A5C145C54}"/>
              </a:ext>
            </a:extLst>
          </p:cNvPr>
          <p:cNvSpPr>
            <a:spLocks noGrp="1"/>
          </p:cNvSpPr>
          <p:nvPr>
            <p:ph type="title"/>
          </p:nvPr>
        </p:nvSpPr>
        <p:spPr/>
        <p:txBody>
          <a:bodyPr/>
          <a:lstStyle/>
          <a:p>
            <a:pPr marL="571500" indent="-571500">
              <a:buFont typeface="Wingdings" panose="05000000000000000000" pitchFamily="2" charset="2"/>
              <a:buChar char="v"/>
            </a:pPr>
            <a:r>
              <a:rPr lang="en-US" dirty="0"/>
              <a:t>PROBLEM STATEMENT</a:t>
            </a:r>
            <a:endParaRPr lang="en-IN" dirty="0"/>
          </a:p>
        </p:txBody>
      </p:sp>
      <p:sp>
        <p:nvSpPr>
          <p:cNvPr id="3" name="Content Placeholder 2">
            <a:extLst>
              <a:ext uri="{FF2B5EF4-FFF2-40B4-BE49-F238E27FC236}">
                <a16:creationId xmlns:a16="http://schemas.microsoft.com/office/drawing/2014/main" id="{AA3301F9-E5D0-8C29-1D13-C8A209FAC617}"/>
              </a:ext>
            </a:extLst>
          </p:cNvPr>
          <p:cNvSpPr>
            <a:spLocks noGrp="1"/>
          </p:cNvSpPr>
          <p:nvPr>
            <p:ph idx="1"/>
          </p:nvPr>
        </p:nvSpPr>
        <p:spPr>
          <a:xfrm>
            <a:off x="905438" y="2249487"/>
            <a:ext cx="7088188" cy="3541714"/>
          </a:xfrm>
        </p:spPr>
        <p:txBody>
          <a:bodyPr>
            <a:normAutofit lnSpcReduction="10000"/>
          </a:bodyPr>
          <a:lstStyle/>
          <a:p>
            <a:pPr>
              <a:buFont typeface="Wingdings" panose="05000000000000000000" pitchFamily="2" charset="2"/>
              <a:buChar char="Ø"/>
            </a:pPr>
            <a:r>
              <a:rPr lang="en-IN" dirty="0"/>
              <a:t>Traditional CCTV systems rely heavily on manual monitoring, which often leads to delayed responses and missed threats. As security risks continue to rise in both public and private spaces, there is an urgent need for an automated system that can detect abnormal behaviour, detect weapons, and recognize faces in real-time to enhance security efficiency and response times.</a:t>
            </a:r>
          </a:p>
          <a:p>
            <a:pPr>
              <a:buFont typeface="Wingdings" panose="05000000000000000000" pitchFamily="2" charset="2"/>
              <a:buChar char="Ø"/>
            </a:pPr>
            <a:endParaRPr lang="en-IN" dirty="0"/>
          </a:p>
        </p:txBody>
      </p:sp>
      <p:pic>
        <p:nvPicPr>
          <p:cNvPr id="3074" name="Picture 2" descr="Image result for raditional CCTV systems rely heavily on manual monitoring, which often leads to delayed responses and overlooked threats. With increasing security risks in public and private spaces, there is an urgent need for an automated system that can detect abnormal behavior, identify weapons, and recognize faces in real-time">
            <a:extLst>
              <a:ext uri="{FF2B5EF4-FFF2-40B4-BE49-F238E27FC236}">
                <a16:creationId xmlns:a16="http://schemas.microsoft.com/office/drawing/2014/main" id="{FD0C5800-3A12-F11D-3013-6CDF3CFC6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4853" y="1603076"/>
            <a:ext cx="3262642" cy="231044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raditional CCTV systems rely heavily on manual monitoring, which often leads to delayed responses and overlooked threats. With increasing security risks in public and private spaces, there is an urgent need for an automated system that can detect abnormal behavior, identify weapons, and recognize faces in real-time">
            <a:extLst>
              <a:ext uri="{FF2B5EF4-FFF2-40B4-BE49-F238E27FC236}">
                <a16:creationId xmlns:a16="http://schemas.microsoft.com/office/drawing/2014/main" id="{390CBBB9-E9E8-F01F-C943-89D8F0FB8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20" y="4516866"/>
            <a:ext cx="3262642" cy="1972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900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F9371-CC4E-B868-6AC1-83A6B1A08A4A}"/>
              </a:ext>
            </a:extLst>
          </p:cNvPr>
          <p:cNvSpPr>
            <a:spLocks noGrp="1"/>
          </p:cNvSpPr>
          <p:nvPr>
            <p:ph type="title"/>
          </p:nvPr>
        </p:nvSpPr>
        <p:spPr/>
        <p:txBody>
          <a:bodyPr/>
          <a:lstStyle/>
          <a:p>
            <a:pPr marL="742950" indent="-742950">
              <a:buFont typeface="Wingdings" panose="05000000000000000000" pitchFamily="2" charset="2"/>
              <a:buChar char="v"/>
            </a:pPr>
            <a:r>
              <a:rPr lang="en-US" dirty="0"/>
              <a:t>  Concept &amp; Objective</a:t>
            </a:r>
            <a:endParaRPr lang="en-IN" dirty="0"/>
          </a:p>
        </p:txBody>
      </p:sp>
      <p:sp>
        <p:nvSpPr>
          <p:cNvPr id="3" name="Content Placeholder 2">
            <a:extLst>
              <a:ext uri="{FF2B5EF4-FFF2-40B4-BE49-F238E27FC236}">
                <a16:creationId xmlns:a16="http://schemas.microsoft.com/office/drawing/2014/main" id="{8C77AC3D-82AA-82B9-99C2-7CBB8186F657}"/>
              </a:ext>
            </a:extLst>
          </p:cNvPr>
          <p:cNvSpPr>
            <a:spLocks noGrp="1"/>
          </p:cNvSpPr>
          <p:nvPr>
            <p:ph idx="1"/>
          </p:nvPr>
        </p:nvSpPr>
        <p:spPr>
          <a:xfrm>
            <a:off x="1141413" y="2249487"/>
            <a:ext cx="7088188" cy="3541714"/>
          </a:xfrm>
        </p:spPr>
        <p:txBody>
          <a:bodyPr/>
          <a:lstStyle/>
          <a:p>
            <a:pPr>
              <a:buFont typeface="Wingdings" panose="05000000000000000000" pitchFamily="2" charset="2"/>
              <a:buChar char="Ø"/>
            </a:pPr>
            <a:r>
              <a:rPr lang="en-US" dirty="0">
                <a:solidFill>
                  <a:schemeClr val="bg1"/>
                </a:solidFill>
              </a:rPr>
              <a:t>Concept: </a:t>
            </a:r>
            <a:r>
              <a:rPr lang="en-US" dirty="0"/>
              <a:t>AI analyzes CCTV footage for threats.</a:t>
            </a:r>
          </a:p>
          <a:p>
            <a:pPr>
              <a:buFont typeface="Wingdings" panose="05000000000000000000" pitchFamily="2" charset="2"/>
              <a:buChar char="Ø"/>
            </a:pPr>
            <a:endParaRPr lang="en-US" dirty="0"/>
          </a:p>
          <a:p>
            <a:pPr>
              <a:buFont typeface="Wingdings" panose="05000000000000000000" pitchFamily="2" charset="2"/>
              <a:buChar char="Ø"/>
            </a:pPr>
            <a:r>
              <a:rPr lang="en-US" dirty="0">
                <a:solidFill>
                  <a:schemeClr val="bg1"/>
                </a:solidFill>
              </a:rPr>
              <a:t>Objective: </a:t>
            </a:r>
            <a:r>
              <a:rPr lang="en-US" dirty="0"/>
              <a:t>Automate threat detection, send real-time alerts and reduce reliance on human monitoring.</a:t>
            </a:r>
            <a:endParaRPr lang="en-IN" dirty="0"/>
          </a:p>
        </p:txBody>
      </p:sp>
      <p:pic>
        <p:nvPicPr>
          <p:cNvPr id="4098" name="Picture 2" descr="New AI will team up with CCTV to predict your every move | Daily Mail ...">
            <a:extLst>
              <a:ext uri="{FF2B5EF4-FFF2-40B4-BE49-F238E27FC236}">
                <a16:creationId xmlns:a16="http://schemas.microsoft.com/office/drawing/2014/main" id="{19EAC2AB-D288-6AAD-A0A6-9DDDE3F56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832" y="4422293"/>
            <a:ext cx="3206238" cy="201274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ee related image detail. Lidar tech: Not just for autonomous cars at CES 2021 - The Washington Post">
            <a:extLst>
              <a:ext uri="{FF2B5EF4-FFF2-40B4-BE49-F238E27FC236}">
                <a16:creationId xmlns:a16="http://schemas.microsoft.com/office/drawing/2014/main" id="{E2D2C9AF-6A6A-DC0A-617E-B7E871428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6164" y="4209858"/>
            <a:ext cx="3370037" cy="222518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0C98630-E79F-7D10-B5D3-DF113D0BD9E2}"/>
              </a:ext>
            </a:extLst>
          </p:cNvPr>
          <p:cNvPicPr>
            <a:picLocks noChangeAspect="1"/>
          </p:cNvPicPr>
          <p:nvPr/>
        </p:nvPicPr>
        <p:blipFill>
          <a:blip r:embed="rId4"/>
          <a:stretch>
            <a:fillRect/>
          </a:stretch>
        </p:blipFill>
        <p:spPr>
          <a:xfrm>
            <a:off x="7913959" y="1185633"/>
            <a:ext cx="3017835" cy="1975310"/>
          </a:xfrm>
          <a:prstGeom prst="rect">
            <a:avLst/>
          </a:prstGeom>
        </p:spPr>
      </p:pic>
    </p:spTree>
    <p:extLst>
      <p:ext uri="{BB962C8B-B14F-4D97-AF65-F5344CB8AC3E}">
        <p14:creationId xmlns:p14="http://schemas.microsoft.com/office/powerpoint/2010/main" val="1853407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A4319-A077-0398-2FFB-05E9E8472A39}"/>
              </a:ext>
            </a:extLst>
          </p:cNvPr>
          <p:cNvSpPr>
            <a:spLocks noGrp="1"/>
          </p:cNvSpPr>
          <p:nvPr>
            <p:ph type="title"/>
          </p:nvPr>
        </p:nvSpPr>
        <p:spPr/>
        <p:txBody>
          <a:bodyPr/>
          <a:lstStyle/>
          <a:p>
            <a:pPr marL="571500" indent="-571500">
              <a:buFont typeface="Wingdings" panose="05000000000000000000" pitchFamily="2" charset="2"/>
              <a:buChar char="v"/>
            </a:pPr>
            <a:r>
              <a:rPr lang="en-US" dirty="0"/>
              <a:t>WHY IS THIS TECHNOLOGY NEEDED?</a:t>
            </a:r>
            <a:endParaRPr lang="en-IN" dirty="0"/>
          </a:p>
        </p:txBody>
      </p:sp>
      <p:sp>
        <p:nvSpPr>
          <p:cNvPr id="3" name="Content Placeholder 2">
            <a:extLst>
              <a:ext uri="{FF2B5EF4-FFF2-40B4-BE49-F238E27FC236}">
                <a16:creationId xmlns:a16="http://schemas.microsoft.com/office/drawing/2014/main" id="{68FCCDCF-1A96-BC01-24CE-979FF80E2F44}"/>
              </a:ext>
            </a:extLst>
          </p:cNvPr>
          <p:cNvSpPr>
            <a:spLocks noGrp="1"/>
          </p:cNvSpPr>
          <p:nvPr>
            <p:ph idx="1"/>
          </p:nvPr>
        </p:nvSpPr>
        <p:spPr>
          <a:xfrm>
            <a:off x="4405722" y="2260643"/>
            <a:ext cx="7333993" cy="4367623"/>
          </a:xfrm>
        </p:spPr>
        <p:txBody>
          <a:bodyPr>
            <a:normAutofit fontScale="92500" lnSpcReduction="20000"/>
          </a:bodyPr>
          <a:lstStyle/>
          <a:p>
            <a:pPr>
              <a:buFont typeface="Wingdings" panose="05000000000000000000" pitchFamily="2" charset="2"/>
              <a:buChar char="Ø"/>
            </a:pPr>
            <a:r>
              <a:rPr lang="en-US" dirty="0">
                <a:solidFill>
                  <a:schemeClr val="bg1"/>
                </a:solidFill>
              </a:rPr>
              <a:t>Security Threats: </a:t>
            </a:r>
            <a:r>
              <a:rPr lang="en-US" dirty="0"/>
              <a:t>Increasing incidents of crime, violence, and public safety concerns demand faster and more accurate threat detection systems.</a:t>
            </a:r>
          </a:p>
          <a:p>
            <a:pPr>
              <a:buFont typeface="Wingdings" panose="05000000000000000000" pitchFamily="2" charset="2"/>
              <a:buChar char="Ø"/>
            </a:pPr>
            <a:r>
              <a:rPr lang="en-US" dirty="0">
                <a:solidFill>
                  <a:schemeClr val="bg1"/>
                </a:solidFill>
              </a:rPr>
              <a:t>Limitations of Manual Monitoring: </a:t>
            </a:r>
            <a:r>
              <a:rPr lang="en-US" dirty="0"/>
              <a:t>Traditional CCTV systems are inefficient, relying on humans to identify threats, which can result in delayed responses or oversight of critical situations.</a:t>
            </a:r>
          </a:p>
          <a:p>
            <a:pPr>
              <a:buFont typeface="Wingdings" panose="05000000000000000000" pitchFamily="2" charset="2"/>
              <a:buChar char="Ø"/>
            </a:pPr>
            <a:r>
              <a:rPr lang="en-US" dirty="0">
                <a:solidFill>
                  <a:schemeClr val="bg1"/>
                </a:solidFill>
              </a:rPr>
              <a:t>AI Advancements : </a:t>
            </a:r>
            <a:r>
              <a:rPr lang="en-US" dirty="0"/>
              <a:t>With the rise of AI and machine learning, it’s now possible to automate real-time threat detection, drastically improving response times and minimizing dependence on large security teams.</a:t>
            </a:r>
          </a:p>
          <a:p>
            <a:pPr>
              <a:buFont typeface="Wingdings" panose="05000000000000000000" pitchFamily="2" charset="2"/>
              <a:buChar char="Ø"/>
            </a:pPr>
            <a:endParaRPr lang="en-IN" dirty="0"/>
          </a:p>
        </p:txBody>
      </p:sp>
      <p:pic>
        <p:nvPicPr>
          <p:cNvPr id="2052" name="Picture 4" descr="Image result for Rising Security Threats">
            <a:extLst>
              <a:ext uri="{FF2B5EF4-FFF2-40B4-BE49-F238E27FC236}">
                <a16:creationId xmlns:a16="http://schemas.microsoft.com/office/drawing/2014/main" id="{B27AADE0-E88C-D7E3-1E87-06C33E2A44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413" y="1875935"/>
            <a:ext cx="2803520" cy="17899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AI Monitoring ">
            <a:extLst>
              <a:ext uri="{FF2B5EF4-FFF2-40B4-BE49-F238E27FC236}">
                <a16:creationId xmlns:a16="http://schemas.microsoft.com/office/drawing/2014/main" id="{A27B83A7-7842-3ECA-BDC7-C2F11F1373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50" r="2876"/>
          <a:stretch/>
        </p:blipFill>
        <p:spPr bwMode="auto">
          <a:xfrm>
            <a:off x="1141413" y="4044099"/>
            <a:ext cx="2803520" cy="1974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063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98F34-CC30-3CF2-175A-7109D34A210A}"/>
              </a:ext>
            </a:extLst>
          </p:cNvPr>
          <p:cNvSpPr>
            <a:spLocks noGrp="1"/>
          </p:cNvSpPr>
          <p:nvPr>
            <p:ph type="title"/>
          </p:nvPr>
        </p:nvSpPr>
        <p:spPr>
          <a:xfrm>
            <a:off x="1951348" y="224503"/>
            <a:ext cx="10545453" cy="1478570"/>
          </a:xfrm>
        </p:spPr>
        <p:txBody>
          <a:bodyPr/>
          <a:lstStyle/>
          <a:p>
            <a:pPr marL="571500" indent="-571500">
              <a:buFont typeface="Wingdings" panose="05000000000000000000" pitchFamily="2" charset="2"/>
              <a:buChar char="v"/>
            </a:pPr>
            <a:r>
              <a:rPr lang="en-US" dirty="0"/>
              <a:t>Crime trends After CCTV Installation</a:t>
            </a:r>
            <a:endParaRPr lang="en-IN" dirty="0"/>
          </a:p>
        </p:txBody>
      </p:sp>
      <p:sp>
        <p:nvSpPr>
          <p:cNvPr id="3" name="Content Placeholder 2">
            <a:extLst>
              <a:ext uri="{FF2B5EF4-FFF2-40B4-BE49-F238E27FC236}">
                <a16:creationId xmlns:a16="http://schemas.microsoft.com/office/drawing/2014/main" id="{7CAC1FF2-2FA7-37C0-C9F9-4BAC40D2DE38}"/>
              </a:ext>
            </a:extLst>
          </p:cNvPr>
          <p:cNvSpPr>
            <a:spLocks noGrp="1"/>
          </p:cNvSpPr>
          <p:nvPr>
            <p:ph idx="1"/>
          </p:nvPr>
        </p:nvSpPr>
        <p:spPr>
          <a:xfrm>
            <a:off x="1154933" y="1703073"/>
            <a:ext cx="5741168" cy="4760913"/>
          </a:xfrm>
        </p:spPr>
        <p:txBody>
          <a:bodyPr>
            <a:normAutofit fontScale="92500" lnSpcReduction="20000"/>
          </a:bodyPr>
          <a:lstStyle/>
          <a:p>
            <a:pPr>
              <a:buFont typeface="Wingdings" panose="05000000000000000000" pitchFamily="2" charset="2"/>
              <a:buChar char="Ø"/>
            </a:pPr>
            <a:r>
              <a:rPr lang="en-US" dirty="0">
                <a:solidFill>
                  <a:schemeClr val="bg1"/>
                </a:solidFill>
              </a:rPr>
              <a:t>Delayed Detection: </a:t>
            </a:r>
            <a:r>
              <a:rPr lang="en-US" dirty="0"/>
              <a:t>Over the past year, several crimes have occurred even after CCTV installation, where footage was reviewed only after the crime  had already occurred.</a:t>
            </a:r>
          </a:p>
          <a:p>
            <a:pPr>
              <a:buFont typeface="Wingdings" panose="05000000000000000000" pitchFamily="2" charset="2"/>
              <a:buChar char="Ø"/>
            </a:pPr>
            <a:r>
              <a:rPr lang="en-US" dirty="0">
                <a:solidFill>
                  <a:schemeClr val="bg1"/>
                </a:solidFill>
              </a:rPr>
              <a:t>Post-Incident Review: </a:t>
            </a:r>
            <a:r>
              <a:rPr lang="en-US" dirty="0"/>
              <a:t>Traditional CCTV systems often rely on reviewing footage after an incident, causing delayed response and missed opportunities to prevent or mitigate the impact.</a:t>
            </a:r>
          </a:p>
          <a:p>
            <a:pPr>
              <a:buFont typeface="Wingdings" panose="05000000000000000000" pitchFamily="2" charset="2"/>
              <a:buChar char="Ø"/>
            </a:pPr>
            <a:r>
              <a:rPr lang="en-US" dirty="0">
                <a:solidFill>
                  <a:schemeClr val="bg1"/>
                </a:solidFill>
              </a:rPr>
              <a:t>Need for Real-Time Monitoring: </a:t>
            </a:r>
            <a:r>
              <a:rPr lang="en-US" dirty="0"/>
              <a:t>This highlights the urgent need for AI-driven real-time monitoring, allowing for instant detection and alerting, helping to prevent crimes or reduce response time significantly.</a:t>
            </a:r>
            <a:endParaRPr lang="en-IN" dirty="0"/>
          </a:p>
        </p:txBody>
      </p:sp>
      <p:sp>
        <p:nvSpPr>
          <p:cNvPr id="4" name="AutoShape 2">
            <a:extLst>
              <a:ext uri="{FF2B5EF4-FFF2-40B4-BE49-F238E27FC236}">
                <a16:creationId xmlns:a16="http://schemas.microsoft.com/office/drawing/2014/main" id="{F3967165-768C-CB7A-CE54-ACCF22C7B89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8" name="Chart 7">
            <a:extLst>
              <a:ext uri="{FF2B5EF4-FFF2-40B4-BE49-F238E27FC236}">
                <a16:creationId xmlns:a16="http://schemas.microsoft.com/office/drawing/2014/main" id="{341AD017-7830-1464-5421-6FE52756E496}"/>
              </a:ext>
            </a:extLst>
          </p:cNvPr>
          <p:cNvGraphicFramePr/>
          <p:nvPr>
            <p:extLst>
              <p:ext uri="{D42A27DB-BD31-4B8C-83A1-F6EECF244321}">
                <p14:modId xmlns:p14="http://schemas.microsoft.com/office/powerpoint/2010/main" val="3532383189"/>
              </p:ext>
            </p:extLst>
          </p:nvPr>
        </p:nvGraphicFramePr>
        <p:xfrm>
          <a:off x="7130848" y="1703073"/>
          <a:ext cx="4758814" cy="3979248"/>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C34C5C62-ED3D-555A-6019-F393CF26E2CD}"/>
              </a:ext>
            </a:extLst>
          </p:cNvPr>
          <p:cNvSpPr txBox="1"/>
          <p:nvPr/>
        </p:nvSpPr>
        <p:spPr>
          <a:xfrm>
            <a:off x="7748902" y="5682321"/>
            <a:ext cx="4025586" cy="1107996"/>
          </a:xfrm>
          <a:prstGeom prst="rect">
            <a:avLst/>
          </a:prstGeom>
          <a:noFill/>
        </p:spPr>
        <p:txBody>
          <a:bodyPr wrap="square" rtlCol="0">
            <a:spAutoFit/>
          </a:bodyPr>
          <a:lstStyle/>
          <a:p>
            <a:r>
              <a:rPr lang="en-IN" sz="2200" dirty="0">
                <a:latin typeface="Copperplate Gothic Bold" panose="020E0705020206020404" pitchFamily="34" charset="0"/>
              </a:rPr>
              <a:t>NCRB (National Crime Records Bureau) reports</a:t>
            </a:r>
          </a:p>
        </p:txBody>
      </p:sp>
    </p:spTree>
    <p:extLst>
      <p:ext uri="{BB962C8B-B14F-4D97-AF65-F5344CB8AC3E}">
        <p14:creationId xmlns:p14="http://schemas.microsoft.com/office/powerpoint/2010/main" val="92373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0E50633-DD86-48B2-CFE4-0844E10578AC}"/>
              </a:ext>
            </a:extLst>
          </p:cNvPr>
          <p:cNvGraphicFramePr>
            <a:graphicFrameLocks noGrp="1"/>
          </p:cNvGraphicFramePr>
          <p:nvPr>
            <p:ph idx="1"/>
            <p:extLst>
              <p:ext uri="{D42A27DB-BD31-4B8C-83A1-F6EECF244321}">
                <p14:modId xmlns:p14="http://schemas.microsoft.com/office/powerpoint/2010/main" val="3794814309"/>
              </p:ext>
            </p:extLst>
          </p:nvPr>
        </p:nvGraphicFramePr>
        <p:xfrm>
          <a:off x="-533400" y="1328057"/>
          <a:ext cx="13933714" cy="491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Rounded Corners 4">
            <a:extLst>
              <a:ext uri="{FF2B5EF4-FFF2-40B4-BE49-F238E27FC236}">
                <a16:creationId xmlns:a16="http://schemas.microsoft.com/office/drawing/2014/main" id="{7BBB21FF-5E97-0261-AC73-1310AEFA1323}"/>
              </a:ext>
            </a:extLst>
          </p:cNvPr>
          <p:cNvSpPr/>
          <p:nvPr/>
        </p:nvSpPr>
        <p:spPr>
          <a:xfrm>
            <a:off x="5687122" y="256478"/>
            <a:ext cx="1851102" cy="747132"/>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w="38100" h="38100" prst="relaxedInset"/>
            </a:sp3d>
          </a:bodyPr>
          <a:lstStyle/>
          <a:p>
            <a:pPr algn="ctr"/>
            <a:r>
              <a:rPr lang="en-IN" dirty="0">
                <a:ln w="0">
                  <a:solidFill>
                    <a:schemeClr val="bg1"/>
                  </a:solidFill>
                </a:ln>
                <a:solidFill>
                  <a:schemeClr val="bg1"/>
                </a:solidFill>
                <a:effectLst>
                  <a:outerShdw blurRad="38100" dist="25400" dir="5400000" algn="ctr" rotWithShape="0">
                    <a:srgbClr val="6E747A">
                      <a:alpha val="43000"/>
                    </a:srgbClr>
                  </a:outerShdw>
                </a:effectLst>
              </a:rPr>
              <a:t>LIVE CCTV FOOTAGE </a:t>
            </a:r>
          </a:p>
        </p:txBody>
      </p:sp>
      <p:cxnSp>
        <p:nvCxnSpPr>
          <p:cNvPr id="7" name="Straight Connector 6">
            <a:extLst>
              <a:ext uri="{FF2B5EF4-FFF2-40B4-BE49-F238E27FC236}">
                <a16:creationId xmlns:a16="http://schemas.microsoft.com/office/drawing/2014/main" id="{3464A9EB-24D6-6604-191F-12EF66992C38}"/>
              </a:ext>
            </a:extLst>
          </p:cNvPr>
          <p:cNvCxnSpPr>
            <a:cxnSpLocks/>
          </p:cNvCxnSpPr>
          <p:nvPr/>
        </p:nvCxnSpPr>
        <p:spPr>
          <a:xfrm>
            <a:off x="6579220" y="1003610"/>
            <a:ext cx="0" cy="32444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AA75D98-82CA-0FBC-CDE7-FF9903D45A1A}"/>
              </a:ext>
            </a:extLst>
          </p:cNvPr>
          <p:cNvSpPr txBox="1"/>
          <p:nvPr/>
        </p:nvSpPr>
        <p:spPr>
          <a:xfrm>
            <a:off x="167268" y="133814"/>
            <a:ext cx="5330285" cy="584775"/>
          </a:xfrm>
          <a:prstGeom prst="rect">
            <a:avLst/>
          </a:prstGeom>
          <a:noFill/>
        </p:spPr>
        <p:txBody>
          <a:bodyPr wrap="square" rtlCol="0">
            <a:spAutoFit/>
          </a:bodyPr>
          <a:lstStyle/>
          <a:p>
            <a:r>
              <a:rPr lang="en-IN" sz="3200" dirty="0">
                <a:solidFill>
                  <a:schemeClr val="bg1"/>
                </a:solidFill>
              </a:rPr>
              <a:t>PLAN OF ACTION</a:t>
            </a:r>
          </a:p>
        </p:txBody>
      </p:sp>
    </p:spTree>
    <p:extLst>
      <p:ext uri="{BB962C8B-B14F-4D97-AF65-F5344CB8AC3E}">
        <p14:creationId xmlns:p14="http://schemas.microsoft.com/office/powerpoint/2010/main" val="2511479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BBF9-6200-94E8-2F1B-B8CF249F57AC}"/>
              </a:ext>
            </a:extLst>
          </p:cNvPr>
          <p:cNvSpPr>
            <a:spLocks noGrp="1"/>
          </p:cNvSpPr>
          <p:nvPr>
            <p:ph type="title"/>
          </p:nvPr>
        </p:nvSpPr>
        <p:spPr>
          <a:xfrm>
            <a:off x="1367555" y="-952108"/>
            <a:ext cx="9905998" cy="3110845"/>
          </a:xfrm>
        </p:spPr>
        <p:txBody>
          <a:bodyPr>
            <a:normAutofit/>
          </a:bodyPr>
          <a:lstStyle/>
          <a:p>
            <a:pPr marL="571500" indent="-571500">
              <a:buFont typeface="Wingdings" panose="05000000000000000000" pitchFamily="2" charset="2"/>
              <a:buChar char="v"/>
            </a:pPr>
            <a:r>
              <a:rPr lang="en-IN" sz="4000" dirty="0"/>
              <a:t>Technologies Used</a:t>
            </a:r>
          </a:p>
        </p:txBody>
      </p:sp>
      <p:sp>
        <p:nvSpPr>
          <p:cNvPr id="3" name="Content Placeholder 2">
            <a:extLst>
              <a:ext uri="{FF2B5EF4-FFF2-40B4-BE49-F238E27FC236}">
                <a16:creationId xmlns:a16="http://schemas.microsoft.com/office/drawing/2014/main" id="{95AFECBE-7A25-9526-CF6F-61607B6590EE}"/>
              </a:ext>
            </a:extLst>
          </p:cNvPr>
          <p:cNvSpPr>
            <a:spLocks noGrp="1"/>
          </p:cNvSpPr>
          <p:nvPr>
            <p:ph idx="1"/>
          </p:nvPr>
        </p:nvSpPr>
        <p:spPr>
          <a:xfrm>
            <a:off x="1220070" y="1300899"/>
            <a:ext cx="7009530" cy="5202451"/>
          </a:xfrm>
        </p:spPr>
        <p:txBody>
          <a:bodyPr>
            <a:normAutofit fontScale="92500" lnSpcReduction="10000"/>
          </a:bodyPr>
          <a:lstStyle/>
          <a:p>
            <a:pPr>
              <a:buFont typeface="Wingdings" panose="05000000000000000000" pitchFamily="2" charset="2"/>
              <a:buChar char="Ø"/>
            </a:pPr>
            <a:r>
              <a:rPr lang="en-US" dirty="0">
                <a:solidFill>
                  <a:schemeClr val="bg1"/>
                </a:solidFill>
              </a:rPr>
              <a:t>Programming Language: </a:t>
            </a:r>
            <a:r>
              <a:rPr lang="en-US" dirty="0"/>
              <a:t>Python                                             Why Python?                                                                          Easy to learn, rapid development, and strong community support.</a:t>
            </a:r>
          </a:p>
          <a:p>
            <a:pPr>
              <a:buFont typeface="Wingdings" panose="05000000000000000000" pitchFamily="2" charset="2"/>
              <a:buChar char="Ø"/>
            </a:pPr>
            <a:r>
              <a:rPr lang="en-IN" dirty="0">
                <a:solidFill>
                  <a:schemeClr val="bg1"/>
                </a:solidFill>
              </a:rPr>
              <a:t>Key Libraries :OpenCV: </a:t>
            </a:r>
            <a:r>
              <a:rPr lang="en-IN" dirty="0"/>
              <a:t>For image and video processing, essential for real-time CCTV analysis.</a:t>
            </a:r>
          </a:p>
          <a:p>
            <a:pPr>
              <a:buFont typeface="Wingdings" panose="05000000000000000000" pitchFamily="2" charset="2"/>
              <a:buChar char="Ø"/>
            </a:pPr>
            <a:r>
              <a:rPr lang="en-IN" dirty="0">
                <a:solidFill>
                  <a:schemeClr val="bg1"/>
                </a:solidFill>
              </a:rPr>
              <a:t>TensorFlow/ </a:t>
            </a:r>
            <a:r>
              <a:rPr lang="en-IN" dirty="0" err="1">
                <a:solidFill>
                  <a:schemeClr val="bg1"/>
                </a:solidFill>
              </a:rPr>
              <a:t>Keras</a:t>
            </a:r>
            <a:r>
              <a:rPr lang="en-IN" dirty="0">
                <a:solidFill>
                  <a:schemeClr val="bg1"/>
                </a:solidFill>
              </a:rPr>
              <a:t> : </a:t>
            </a:r>
            <a:r>
              <a:rPr lang="en-IN" dirty="0"/>
              <a:t>For building and training machine learning models, enabling accurate threat detection.</a:t>
            </a:r>
          </a:p>
          <a:p>
            <a:pPr>
              <a:buFont typeface="Wingdings" panose="05000000000000000000" pitchFamily="2" charset="2"/>
              <a:buChar char="Ø"/>
            </a:pPr>
            <a:r>
              <a:rPr lang="en-IN" dirty="0">
                <a:solidFill>
                  <a:schemeClr val="bg1"/>
                </a:solidFill>
              </a:rPr>
              <a:t>NumPy : </a:t>
            </a:r>
            <a:r>
              <a:rPr lang="en-IN" dirty="0"/>
              <a:t>For numerical computations and handling data efficiently.</a:t>
            </a:r>
          </a:p>
          <a:p>
            <a:pPr>
              <a:buFont typeface="Wingdings" panose="05000000000000000000" pitchFamily="2" charset="2"/>
              <a:buChar char="Ø"/>
            </a:pPr>
            <a:r>
              <a:rPr lang="en-IN" dirty="0">
                <a:solidFill>
                  <a:schemeClr val="bg1"/>
                </a:solidFill>
              </a:rPr>
              <a:t>Scikit-learn : </a:t>
            </a:r>
            <a:r>
              <a:rPr lang="en-IN" dirty="0"/>
              <a:t>For implementing machine learning algorithms for </a:t>
            </a:r>
            <a:r>
              <a:rPr lang="en-IN" dirty="0" err="1"/>
              <a:t>behaviuor</a:t>
            </a:r>
            <a:r>
              <a:rPr lang="en-IN" dirty="0"/>
              <a:t> recognition.</a:t>
            </a:r>
          </a:p>
        </p:txBody>
      </p:sp>
      <p:pic>
        <p:nvPicPr>
          <p:cNvPr id="5122" name="Picture 2" descr="Image result for Python Logo">
            <a:extLst>
              <a:ext uri="{FF2B5EF4-FFF2-40B4-BE49-F238E27FC236}">
                <a16:creationId xmlns:a16="http://schemas.microsoft.com/office/drawing/2014/main" id="{E12F2ADE-C085-A130-E0FB-35AE779E0A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3582" y="639739"/>
            <a:ext cx="2400674" cy="132232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OpenCV">
            <a:extLst>
              <a:ext uri="{FF2B5EF4-FFF2-40B4-BE49-F238E27FC236}">
                <a16:creationId xmlns:a16="http://schemas.microsoft.com/office/drawing/2014/main" id="{0623B0A8-4E0D-73B8-9D57-3EFB91724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4001" y="287009"/>
            <a:ext cx="1769807" cy="190449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mage result for TensorFlow/Keras">
            <a:extLst>
              <a:ext uri="{FF2B5EF4-FFF2-40B4-BE49-F238E27FC236}">
                <a16:creationId xmlns:a16="http://schemas.microsoft.com/office/drawing/2014/main" id="{4691B8B1-4AF0-B304-8EAB-83DAE2D1C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6339" y="2413941"/>
            <a:ext cx="2365591" cy="121006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Image result for NumPy">
            <a:extLst>
              <a:ext uri="{FF2B5EF4-FFF2-40B4-BE49-F238E27FC236}">
                <a16:creationId xmlns:a16="http://schemas.microsoft.com/office/drawing/2014/main" id="{7FDF0C16-375D-1970-266E-36E4CD7B46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06339" y="3789917"/>
            <a:ext cx="2323934" cy="129791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Image result for Scikit-learn">
            <a:extLst>
              <a:ext uri="{FF2B5EF4-FFF2-40B4-BE49-F238E27FC236}">
                <a16:creationId xmlns:a16="http://schemas.microsoft.com/office/drawing/2014/main" id="{996076B7-ADA7-1C4D-779F-07888D3053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6339" y="5273080"/>
            <a:ext cx="2323934" cy="1297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134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16E9-C71F-FC72-E037-12C4DC0B857F}"/>
              </a:ext>
            </a:extLst>
          </p:cNvPr>
          <p:cNvSpPr>
            <a:spLocks noGrp="1"/>
          </p:cNvSpPr>
          <p:nvPr>
            <p:ph type="title"/>
          </p:nvPr>
        </p:nvSpPr>
        <p:spPr/>
        <p:txBody>
          <a:bodyPr/>
          <a:lstStyle/>
          <a:p>
            <a:pPr marL="571500" indent="-571500">
              <a:buFont typeface="Wingdings" panose="05000000000000000000" pitchFamily="2" charset="2"/>
              <a:buChar char="v"/>
            </a:pPr>
            <a:r>
              <a:rPr lang="en-US" dirty="0"/>
              <a:t>Key Features</a:t>
            </a:r>
            <a:endParaRPr lang="en-IN" dirty="0"/>
          </a:p>
        </p:txBody>
      </p:sp>
      <p:sp>
        <p:nvSpPr>
          <p:cNvPr id="3" name="Content Placeholder 2">
            <a:extLst>
              <a:ext uri="{FF2B5EF4-FFF2-40B4-BE49-F238E27FC236}">
                <a16:creationId xmlns:a16="http://schemas.microsoft.com/office/drawing/2014/main" id="{7859CDA8-CF23-F2AD-0A86-8F55B8A21976}"/>
              </a:ext>
            </a:extLst>
          </p:cNvPr>
          <p:cNvSpPr>
            <a:spLocks noGrp="1"/>
          </p:cNvSpPr>
          <p:nvPr>
            <p:ph idx="1"/>
          </p:nvPr>
        </p:nvSpPr>
        <p:spPr>
          <a:xfrm>
            <a:off x="1141412" y="2249487"/>
            <a:ext cx="5751001" cy="3541714"/>
          </a:xfrm>
        </p:spPr>
        <p:txBody>
          <a:bodyPr/>
          <a:lstStyle/>
          <a:p>
            <a:pPr>
              <a:buFont typeface="Wingdings" panose="05000000000000000000" pitchFamily="2" charset="2"/>
              <a:buChar char="Ø"/>
            </a:pPr>
            <a:r>
              <a:rPr lang="en-US" dirty="0"/>
              <a:t>Real-time weapon and behavior detection.</a:t>
            </a:r>
          </a:p>
          <a:p>
            <a:pPr>
              <a:buFont typeface="Wingdings" panose="05000000000000000000" pitchFamily="2" charset="2"/>
              <a:buChar char="Ø"/>
            </a:pPr>
            <a:r>
              <a:rPr lang="en-US" dirty="0"/>
              <a:t>Instant alerts via SMS or email or call.</a:t>
            </a:r>
          </a:p>
          <a:p>
            <a:pPr>
              <a:buFont typeface="Wingdings" panose="05000000000000000000" pitchFamily="2" charset="2"/>
              <a:buChar char="Ø"/>
            </a:pPr>
            <a:r>
              <a:rPr lang="en-US" dirty="0"/>
              <a:t>It will start record the footages when these</a:t>
            </a:r>
            <a:r>
              <a:rPr lang="en-IN" dirty="0"/>
              <a:t> </a:t>
            </a:r>
            <a:r>
              <a:rPr lang="en-US" dirty="0"/>
              <a:t>all abnormality happens.</a:t>
            </a:r>
          </a:p>
          <a:p>
            <a:pPr>
              <a:buFont typeface="Wingdings" panose="05000000000000000000" pitchFamily="2" charset="2"/>
              <a:buChar char="Ø"/>
            </a:pPr>
            <a:r>
              <a:rPr lang="en-US" dirty="0"/>
              <a:t>Face recognition of wanted individuals.</a:t>
            </a:r>
          </a:p>
          <a:p>
            <a:pPr marL="0" indent="0">
              <a:buNone/>
            </a:pPr>
            <a:endParaRPr lang="en-IN" dirty="0"/>
          </a:p>
        </p:txBody>
      </p:sp>
      <p:pic>
        <p:nvPicPr>
          <p:cNvPr id="6148" name="Picture 4" descr="2 Penny Stocks To Watch Focused On Weapons Detection">
            <a:extLst>
              <a:ext uri="{FF2B5EF4-FFF2-40B4-BE49-F238E27FC236}">
                <a16:creationId xmlns:a16="http://schemas.microsoft.com/office/drawing/2014/main" id="{ADCC3079-5CF2-AC95-C54D-818C3C430A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37" t="8834" r="9833" b="10456"/>
          <a:stretch/>
        </p:blipFill>
        <p:spPr bwMode="auto">
          <a:xfrm>
            <a:off x="7663992" y="1131369"/>
            <a:ext cx="3220224" cy="170609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Face Recognition System Icon">
            <a:extLst>
              <a:ext uri="{FF2B5EF4-FFF2-40B4-BE49-F238E27FC236}">
                <a16:creationId xmlns:a16="http://schemas.microsoft.com/office/drawing/2014/main" id="{53D2191E-2759-A2EF-5721-36AC6FC987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023" y="4986779"/>
            <a:ext cx="1951349" cy="1773686"/>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ere's How to setup SMS and Email Alerts - YouTube">
            <a:extLst>
              <a:ext uri="{FF2B5EF4-FFF2-40B4-BE49-F238E27FC236}">
                <a16:creationId xmlns:a16="http://schemas.microsoft.com/office/drawing/2014/main" id="{46472645-65DF-5227-B54D-EE81CDAACE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298" t="24475" r="9899" b="23066"/>
          <a:stretch/>
        </p:blipFill>
        <p:spPr bwMode="auto">
          <a:xfrm>
            <a:off x="7663992" y="3173002"/>
            <a:ext cx="3220224" cy="1269343"/>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Image result for It will start record the footages when theses all abnormality happens.">
            <a:extLst>
              <a:ext uri="{FF2B5EF4-FFF2-40B4-BE49-F238E27FC236}">
                <a16:creationId xmlns:a16="http://schemas.microsoft.com/office/drawing/2014/main" id="{4D042FB8-E641-D962-55D0-7E5DEB5D9FA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507" t="13336" r="8984" b="15824"/>
          <a:stretch/>
        </p:blipFill>
        <p:spPr bwMode="auto">
          <a:xfrm>
            <a:off x="7663992" y="4682805"/>
            <a:ext cx="3220224" cy="1930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495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0FB6-26E1-8AD6-A99E-FBBB316AE4E0}"/>
              </a:ext>
            </a:extLst>
          </p:cNvPr>
          <p:cNvSpPr>
            <a:spLocks noGrp="1"/>
          </p:cNvSpPr>
          <p:nvPr>
            <p:ph type="title"/>
          </p:nvPr>
        </p:nvSpPr>
        <p:spPr/>
        <p:txBody>
          <a:bodyPr/>
          <a:lstStyle/>
          <a:p>
            <a:pPr marL="571500" indent="-571500">
              <a:buFont typeface="Wingdings" panose="05000000000000000000" pitchFamily="2" charset="2"/>
              <a:buChar char="v"/>
            </a:pPr>
            <a:r>
              <a:rPr lang="en-US" dirty="0"/>
              <a:t>Applications</a:t>
            </a:r>
            <a:endParaRPr lang="en-IN" dirty="0"/>
          </a:p>
        </p:txBody>
      </p:sp>
      <p:sp>
        <p:nvSpPr>
          <p:cNvPr id="3" name="Content Placeholder 2">
            <a:extLst>
              <a:ext uri="{FF2B5EF4-FFF2-40B4-BE49-F238E27FC236}">
                <a16:creationId xmlns:a16="http://schemas.microsoft.com/office/drawing/2014/main" id="{3D7FA149-CCC7-0334-1EF2-304C0168E977}"/>
              </a:ext>
            </a:extLst>
          </p:cNvPr>
          <p:cNvSpPr>
            <a:spLocks noGrp="1"/>
          </p:cNvSpPr>
          <p:nvPr>
            <p:ph idx="1"/>
          </p:nvPr>
        </p:nvSpPr>
        <p:spPr>
          <a:xfrm>
            <a:off x="1141412" y="2249486"/>
            <a:ext cx="5888653" cy="5006719"/>
          </a:xfrm>
        </p:spPr>
        <p:txBody>
          <a:bodyPr/>
          <a:lstStyle/>
          <a:p>
            <a:pPr>
              <a:buFont typeface="Wingdings" panose="05000000000000000000" pitchFamily="2" charset="2"/>
              <a:buChar char="Ø"/>
            </a:pPr>
            <a:r>
              <a:rPr lang="en-US" dirty="0">
                <a:solidFill>
                  <a:schemeClr val="bg1"/>
                </a:solidFill>
              </a:rPr>
              <a:t>Retail: </a:t>
            </a:r>
            <a:r>
              <a:rPr lang="en-US" dirty="0"/>
              <a:t>Detect shoplifting, violence.</a:t>
            </a:r>
          </a:p>
          <a:p>
            <a:pPr>
              <a:buFont typeface="Wingdings" panose="05000000000000000000" pitchFamily="2" charset="2"/>
              <a:buChar char="Ø"/>
            </a:pPr>
            <a:r>
              <a:rPr lang="en-US" dirty="0">
                <a:solidFill>
                  <a:schemeClr val="bg1"/>
                </a:solidFill>
              </a:rPr>
              <a:t>Factories: </a:t>
            </a:r>
            <a:r>
              <a:rPr lang="en-US" dirty="0"/>
              <a:t>Prevent theft, enhance safety.</a:t>
            </a:r>
          </a:p>
          <a:p>
            <a:pPr>
              <a:buFont typeface="Wingdings" panose="05000000000000000000" pitchFamily="2" charset="2"/>
              <a:buChar char="Ø"/>
            </a:pPr>
            <a:r>
              <a:rPr lang="en-US" dirty="0">
                <a:solidFill>
                  <a:schemeClr val="bg1"/>
                </a:solidFill>
              </a:rPr>
              <a:t>Schools, College &amp; Airports:</a:t>
            </a:r>
            <a:r>
              <a:rPr lang="en-US" dirty="0">
                <a:solidFill>
                  <a:srgbClr val="FF0000"/>
                </a:solidFill>
              </a:rPr>
              <a:t> </a:t>
            </a:r>
            <a:r>
              <a:rPr lang="en-US" dirty="0"/>
              <a:t>Monitor large crowds for threats.</a:t>
            </a:r>
            <a:endParaRPr lang="en-IN" dirty="0"/>
          </a:p>
        </p:txBody>
      </p:sp>
      <p:pic>
        <p:nvPicPr>
          <p:cNvPr id="7170" name="Picture 2" descr="Retailers Grapple With Increased Shoplifting-Related Violence | PYMNTS.com">
            <a:extLst>
              <a:ext uri="{FF2B5EF4-FFF2-40B4-BE49-F238E27FC236}">
                <a16:creationId xmlns:a16="http://schemas.microsoft.com/office/drawing/2014/main" id="{A169DF34-2817-7275-D47A-8A309B59C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7536" y="1047248"/>
            <a:ext cx="3219875" cy="19319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Prevent theft, enhance safety using ai">
            <a:extLst>
              <a:ext uri="{FF2B5EF4-FFF2-40B4-BE49-F238E27FC236}">
                <a16:creationId xmlns:a16="http://schemas.microsoft.com/office/drawing/2014/main" id="{27664467-62D8-3F75-FD68-ADAF1A2C4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5504" y="3878828"/>
            <a:ext cx="3103938" cy="1931924"/>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Image result for Schools, College &amp; Airports: Monitor large crowds for threats.using ai">
            <a:extLst>
              <a:ext uri="{FF2B5EF4-FFF2-40B4-BE49-F238E27FC236}">
                <a16:creationId xmlns:a16="http://schemas.microsoft.com/office/drawing/2014/main" id="{E80DF494-6EB3-2DBA-C89A-16D8B550F0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3162" y="4574142"/>
            <a:ext cx="4537705" cy="2062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635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9ACEF-741C-19E6-6871-DE54C874E260}"/>
              </a:ext>
            </a:extLst>
          </p:cNvPr>
          <p:cNvSpPr>
            <a:spLocks noGrp="1"/>
          </p:cNvSpPr>
          <p:nvPr>
            <p:ph type="title"/>
          </p:nvPr>
        </p:nvSpPr>
        <p:spPr/>
        <p:txBody>
          <a:bodyPr/>
          <a:lstStyle/>
          <a:p>
            <a:pPr marL="571500" indent="-571500">
              <a:buFont typeface="Wingdings" panose="05000000000000000000" pitchFamily="2" charset="2"/>
              <a:buChar char="v"/>
            </a:pPr>
            <a:r>
              <a:rPr lang="en-US" dirty="0"/>
              <a:t>Market Potential</a:t>
            </a:r>
            <a:endParaRPr lang="en-IN" dirty="0"/>
          </a:p>
        </p:txBody>
      </p:sp>
      <p:sp>
        <p:nvSpPr>
          <p:cNvPr id="3" name="Content Placeholder 2">
            <a:extLst>
              <a:ext uri="{FF2B5EF4-FFF2-40B4-BE49-F238E27FC236}">
                <a16:creationId xmlns:a16="http://schemas.microsoft.com/office/drawing/2014/main" id="{D283EA45-BD26-6AAC-4C43-97CAA9EF8975}"/>
              </a:ext>
            </a:extLst>
          </p:cNvPr>
          <p:cNvSpPr>
            <a:spLocks noGrp="1"/>
          </p:cNvSpPr>
          <p:nvPr>
            <p:ph idx="1"/>
          </p:nvPr>
        </p:nvSpPr>
        <p:spPr>
          <a:xfrm>
            <a:off x="1141412" y="2249487"/>
            <a:ext cx="6989865" cy="3541714"/>
          </a:xfrm>
        </p:spPr>
        <p:txBody>
          <a:bodyPr/>
          <a:lstStyle/>
          <a:p>
            <a:pPr>
              <a:buFont typeface="Wingdings" panose="05000000000000000000" pitchFamily="2" charset="2"/>
              <a:buChar char="Ø"/>
            </a:pPr>
            <a:r>
              <a:rPr lang="en-US" dirty="0"/>
              <a:t>High demand for automated security systems.</a:t>
            </a:r>
          </a:p>
          <a:p>
            <a:pPr>
              <a:buFont typeface="Wingdings" panose="05000000000000000000" pitchFamily="2" charset="2"/>
              <a:buChar char="Ø"/>
            </a:pPr>
            <a:r>
              <a:rPr lang="en-US" dirty="0"/>
              <a:t>Applicable for MSMEs, smart cities, and public sectors.</a:t>
            </a:r>
          </a:p>
          <a:p>
            <a:pPr>
              <a:buFont typeface="Wingdings" panose="05000000000000000000" pitchFamily="2" charset="2"/>
              <a:buChar char="Ø"/>
            </a:pPr>
            <a:r>
              <a:rPr lang="en-US" dirty="0"/>
              <a:t>Cost-effective and scalable for existing CCTV systems.</a:t>
            </a:r>
            <a:endParaRPr lang="en-IN" dirty="0"/>
          </a:p>
        </p:txBody>
      </p:sp>
      <p:pic>
        <p:nvPicPr>
          <p:cNvPr id="8194" name="Picture 2" descr="Image result for automated security systems.">
            <a:extLst>
              <a:ext uri="{FF2B5EF4-FFF2-40B4-BE49-F238E27FC236}">
                <a16:creationId xmlns:a16="http://schemas.microsoft.com/office/drawing/2014/main" id="{9887864B-CA30-F150-7EBD-BDC25891E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5892" y="1726426"/>
            <a:ext cx="3171519" cy="229391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4 Ways to Integrate Cyber Security Automation Within Your Enterprise ...">
            <a:extLst>
              <a:ext uri="{FF2B5EF4-FFF2-40B4-BE49-F238E27FC236}">
                <a16:creationId xmlns:a16="http://schemas.microsoft.com/office/drawing/2014/main" id="{E2959E64-EB10-A676-AA04-264B3D628F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8642" y="4419551"/>
            <a:ext cx="3795404" cy="2277884"/>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mage result for automated security systems ,market pontitial for smart citties">
            <a:extLst>
              <a:ext uri="{FF2B5EF4-FFF2-40B4-BE49-F238E27FC236}">
                <a16:creationId xmlns:a16="http://schemas.microsoft.com/office/drawing/2014/main" id="{361AFC95-1869-F91D-0A44-719DCFEFEA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8524" y="4419550"/>
            <a:ext cx="3767539" cy="2207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263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CD283-9CC3-CCF2-3994-E6EFAF951BD6}"/>
              </a:ext>
            </a:extLst>
          </p:cNvPr>
          <p:cNvSpPr>
            <a:spLocks noGrp="1"/>
          </p:cNvSpPr>
          <p:nvPr>
            <p:ph type="title"/>
          </p:nvPr>
        </p:nvSpPr>
        <p:spPr/>
        <p:txBody>
          <a:bodyPr/>
          <a:lstStyle/>
          <a:p>
            <a:pPr marL="571500" indent="-571500">
              <a:buFont typeface="Wingdings" panose="05000000000000000000" pitchFamily="2" charset="2"/>
              <a:buChar char="v"/>
            </a:pPr>
            <a:r>
              <a:rPr lang="en-US" dirty="0"/>
              <a:t>Conclusion</a:t>
            </a:r>
            <a:endParaRPr lang="en-IN" dirty="0"/>
          </a:p>
        </p:txBody>
      </p:sp>
      <p:sp>
        <p:nvSpPr>
          <p:cNvPr id="3" name="Content Placeholder 2">
            <a:extLst>
              <a:ext uri="{FF2B5EF4-FFF2-40B4-BE49-F238E27FC236}">
                <a16:creationId xmlns:a16="http://schemas.microsoft.com/office/drawing/2014/main" id="{819829AD-AA43-8160-E00A-52E108C66E9F}"/>
              </a:ext>
            </a:extLst>
          </p:cNvPr>
          <p:cNvSpPr>
            <a:spLocks noGrp="1"/>
          </p:cNvSpPr>
          <p:nvPr>
            <p:ph idx="1"/>
          </p:nvPr>
        </p:nvSpPr>
        <p:spPr>
          <a:xfrm>
            <a:off x="1141413" y="2249487"/>
            <a:ext cx="6940704" cy="3541714"/>
          </a:xfrm>
        </p:spPr>
        <p:txBody>
          <a:bodyPr/>
          <a:lstStyle/>
          <a:p>
            <a:pPr>
              <a:buFont typeface="Wingdings" panose="05000000000000000000" pitchFamily="2" charset="2"/>
              <a:buChar char="ü"/>
            </a:pPr>
            <a:r>
              <a:rPr lang="en-US" dirty="0"/>
              <a:t>1. AI-driven CCTV automates threat detection.</a:t>
            </a:r>
          </a:p>
          <a:p>
            <a:pPr>
              <a:buFont typeface="Wingdings" panose="05000000000000000000" pitchFamily="2" charset="2"/>
              <a:buChar char="ü"/>
            </a:pPr>
            <a:r>
              <a:rPr lang="en-US" dirty="0"/>
              <a:t>2. Reduces human error and improves </a:t>
            </a:r>
          </a:p>
          <a:p>
            <a:pPr marL="0" indent="0">
              <a:buNone/>
            </a:pPr>
            <a:r>
              <a:rPr lang="en-US" dirty="0"/>
              <a:t>    response times.</a:t>
            </a:r>
          </a:p>
          <a:p>
            <a:pPr>
              <a:buFont typeface="Wingdings" panose="05000000000000000000" pitchFamily="2" charset="2"/>
              <a:buChar char="ü"/>
            </a:pPr>
            <a:r>
              <a:rPr lang="en-US" dirty="0"/>
              <a:t>3. Scalable, affordable, and efficient </a:t>
            </a:r>
          </a:p>
          <a:p>
            <a:pPr marL="0" indent="0">
              <a:buNone/>
            </a:pPr>
            <a:r>
              <a:rPr lang="en-US" dirty="0"/>
              <a:t>   for various industries.</a:t>
            </a:r>
            <a:endParaRPr lang="en-IN" dirty="0"/>
          </a:p>
        </p:txBody>
      </p:sp>
      <p:pic>
        <p:nvPicPr>
          <p:cNvPr id="9218" name="Picture 2" descr="Image result for Reduces human error and improves response times.">
            <a:extLst>
              <a:ext uri="{FF2B5EF4-FFF2-40B4-BE49-F238E27FC236}">
                <a16:creationId xmlns:a16="http://schemas.microsoft.com/office/drawing/2014/main" id="{1240FBAC-70CB-B3BB-0A11-07EB17B773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9386" y="2097088"/>
            <a:ext cx="3248025" cy="186689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Image result for Reduces human error and improves response times.">
            <a:extLst>
              <a:ext uri="{FF2B5EF4-FFF2-40B4-BE49-F238E27FC236}">
                <a16:creationId xmlns:a16="http://schemas.microsoft.com/office/drawing/2014/main" id="{44F5E146-8DE5-5DA8-7732-9A5923AAD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7010" y="4476083"/>
            <a:ext cx="3152775"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82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C15A8-8F89-D43A-CA9E-7BD5323D662C}"/>
              </a:ext>
            </a:extLst>
          </p:cNvPr>
          <p:cNvSpPr>
            <a:spLocks noGrp="1"/>
          </p:cNvSpPr>
          <p:nvPr>
            <p:ph type="title"/>
          </p:nvPr>
        </p:nvSpPr>
        <p:spPr/>
        <p:txBody>
          <a:bodyPr/>
          <a:lstStyle/>
          <a:p>
            <a:pPr marL="571500" indent="-571500">
              <a:buFont typeface="Wingdings" panose="05000000000000000000" pitchFamily="2" charset="2"/>
              <a:buChar char="v"/>
            </a:pPr>
            <a:r>
              <a:rPr lang="en-US" dirty="0"/>
              <a:t>THANKING YOU</a:t>
            </a:r>
            <a:endParaRPr lang="en-IN" dirty="0"/>
          </a:p>
        </p:txBody>
      </p:sp>
      <p:sp>
        <p:nvSpPr>
          <p:cNvPr id="3" name="Content Placeholder 2">
            <a:extLst>
              <a:ext uri="{FF2B5EF4-FFF2-40B4-BE49-F238E27FC236}">
                <a16:creationId xmlns:a16="http://schemas.microsoft.com/office/drawing/2014/main" id="{602CEDE0-D6E2-D47A-A7D5-2DEB4D3349F8}"/>
              </a:ext>
            </a:extLst>
          </p:cNvPr>
          <p:cNvSpPr>
            <a:spLocks noGrp="1"/>
          </p:cNvSpPr>
          <p:nvPr>
            <p:ph idx="1"/>
          </p:nvPr>
        </p:nvSpPr>
        <p:spPr/>
        <p:txBody>
          <a:bodyPr/>
          <a:lstStyle/>
          <a:p>
            <a:pPr>
              <a:buFont typeface="Wingdings" panose="05000000000000000000" pitchFamily="2" charset="2"/>
              <a:buChar char="q"/>
            </a:pPr>
            <a:r>
              <a:rPr lang="en-US" dirty="0"/>
              <a:t> Thankyou for Spending your valuable time with us</a:t>
            </a:r>
            <a:endParaRPr lang="en-IN" dirty="0"/>
          </a:p>
        </p:txBody>
      </p:sp>
      <p:pic>
        <p:nvPicPr>
          <p:cNvPr id="10242" name="Picture 2" descr="Image result for robot thanks">
            <a:extLst>
              <a:ext uri="{FF2B5EF4-FFF2-40B4-BE49-F238E27FC236}">
                <a16:creationId xmlns:a16="http://schemas.microsoft.com/office/drawing/2014/main" id="{CE035741-3A51-CE39-4780-CB69A5121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6884" y="3192411"/>
            <a:ext cx="4852987" cy="3257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1527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371</TotalTime>
  <Words>613</Words>
  <Application>Microsoft Office PowerPoint</Application>
  <PresentationFormat>Widescreen</PresentationFormat>
  <Paragraphs>59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Copperplate Gothic Bold</vt:lpstr>
      <vt:lpstr>Tw Cen MT</vt:lpstr>
      <vt:lpstr>Wingdings</vt:lpstr>
      <vt:lpstr>Circuit</vt:lpstr>
      <vt:lpstr>AI DRIVEN CCTV SECURITY SYSTEM</vt:lpstr>
      <vt:lpstr>inTRoduction</vt:lpstr>
      <vt:lpstr>PROBLEM STATEMENT</vt:lpstr>
      <vt:lpstr>  Concept &amp; Objective</vt:lpstr>
      <vt:lpstr>WHY IS THIS TECHNOLOGY NEEDED?</vt:lpstr>
      <vt:lpstr>Crime trends After CCTV Installation</vt:lpstr>
      <vt:lpstr>PowerPoint Presentation</vt:lpstr>
      <vt:lpstr>Technologies Used</vt:lpstr>
      <vt:lpstr>Key Features</vt:lpstr>
      <vt:lpstr>Applications</vt:lpstr>
      <vt:lpstr>Market Potential</vt:lpstr>
      <vt:lpstr>Conclusion</vt:lpstr>
      <vt:lpstr>THANKING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DRIVEN CCTV SECURITY SYSTEM</dc:title>
  <dc:creator>Arokiya Raj</dc:creator>
  <cp:lastModifiedBy>Vennila Gnanavel</cp:lastModifiedBy>
  <cp:revision>10</cp:revision>
  <dcterms:created xsi:type="dcterms:W3CDTF">2024-09-29T02:44:16Z</dcterms:created>
  <dcterms:modified xsi:type="dcterms:W3CDTF">2025-03-28T17:32:18Z</dcterms:modified>
</cp:coreProperties>
</file>